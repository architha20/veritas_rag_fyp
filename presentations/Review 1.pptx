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3" r:id="rId2"/>
    <p:sldId id="272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0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4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36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4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75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9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82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09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62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083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26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2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389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27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73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0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EE302C-63C4-4CCF-9213-A8E16CBA93E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4DAAFB-98E7-4C35-B581-9DC496FAD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7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ajalakshmi Engineering College (REC ..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540" y="1123784"/>
            <a:ext cx="5312300" cy="11497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47999" y="2828836"/>
            <a:ext cx="63583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&amp; Business Systems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CB23721 – Project Evaluation I </a:t>
            </a:r>
          </a:p>
          <a:p>
            <a:pPr algn="ctr"/>
            <a:r>
              <a:rPr lang="en-GB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2  –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/0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GB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/2026 </a:t>
            </a:r>
            <a:endParaRPr lang="en-GB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2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66960"/>
              </p:ext>
            </p:extLst>
          </p:nvPr>
        </p:nvGraphicFramePr>
        <p:xfrm>
          <a:off x="1425271" y="1081377"/>
          <a:ext cx="9601200" cy="1300038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0038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VeritasRAG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Hallucination-Flagging Layer for 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26650" y="2568273"/>
            <a:ext cx="939844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/>
            </a:pPr>
            <a:r>
              <a:rPr lang="en-IN" b="1" dirty="0"/>
              <a:t>Team Members : </a:t>
            </a:r>
          </a:p>
          <a:p>
            <a:pPr marL="457200" indent="-457200">
              <a:buFont typeface="+mj-lt"/>
              <a:buAutoNum type="arabicPeriod"/>
              <a:defRPr sz="2200"/>
            </a:pPr>
            <a:r>
              <a:rPr lang="en-US" dirty="0" err="1"/>
              <a:t>Architha</a:t>
            </a:r>
            <a:r>
              <a:rPr lang="en-US" dirty="0"/>
              <a:t> M - 231401013</a:t>
            </a:r>
          </a:p>
          <a:p>
            <a:pPr marL="457200" indent="-457200">
              <a:buFont typeface="+mj-lt"/>
              <a:buAutoNum type="arabicPeriod"/>
              <a:defRPr sz="2200"/>
            </a:pPr>
            <a:r>
              <a:rPr lang="en-US" dirty="0" err="1"/>
              <a:t>Dhanvin</a:t>
            </a:r>
            <a:r>
              <a:rPr lang="en-US" dirty="0"/>
              <a:t> </a:t>
            </a:r>
            <a:r>
              <a:rPr lang="en-US" dirty="0" err="1"/>
              <a:t>Kadiir</a:t>
            </a:r>
            <a:r>
              <a:rPr lang="en-US" dirty="0"/>
              <a:t> – 231401022</a:t>
            </a:r>
          </a:p>
          <a:p>
            <a:pPr>
              <a:defRPr sz="2200"/>
            </a:pPr>
            <a:r>
              <a:rPr lang="en-US" b="1" dirty="0"/>
              <a:t>Guide : </a:t>
            </a:r>
          </a:p>
          <a:p>
            <a:pPr>
              <a:defRPr sz="2200"/>
            </a:pPr>
            <a:r>
              <a:rPr lang="en-US" dirty="0"/>
              <a:t>	Mrs. </a:t>
            </a:r>
            <a:r>
              <a:rPr lang="en-US" dirty="0" err="1"/>
              <a:t>Poornimathi</a:t>
            </a:r>
            <a:r>
              <a:rPr lang="en-US" dirty="0"/>
              <a:t> K</a:t>
            </a:r>
          </a:p>
          <a:p>
            <a:pPr>
              <a:defRPr sz="2200"/>
            </a:pPr>
            <a:r>
              <a:rPr lang="en-US" dirty="0"/>
              <a:t>	Assistant Professor(SG)</a:t>
            </a:r>
          </a:p>
          <a:p>
            <a:pPr>
              <a:defRPr sz="2200"/>
            </a:pPr>
            <a:r>
              <a:rPr lang="en-IN" dirty="0"/>
              <a:t>	</a:t>
            </a:r>
            <a:r>
              <a:rPr lang="en-IN" dirty="0" err="1"/>
              <a:t>B.Tech</a:t>
            </a:r>
            <a:r>
              <a:rPr lang="en-IN" dirty="0"/>
              <a:t> Computer Science and Business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4429" y="763526"/>
            <a:ext cx="37655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2322" y="1622831"/>
            <a:ext cx="992852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 generate fluent but incorrect or unsupported information.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improves factuality by retrieving relevant external documents.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RAG does not completely eliminate hallucinations.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real-time verification of generated responses.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1835" y="4034106"/>
            <a:ext cx="711376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RAG systems do not clearly identify grounded, inferred, and hallucinated content.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see which claims are supported by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234376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1247" y="1101373"/>
            <a:ext cx="8560905" cy="3043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non-invasive, model-agnostic middleware for real-time verification of RAG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ensemble engine utilizing Embedding Similarity, NLI, and Atomic Fact Entailment.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sentence-level and claim-level grounding scores with linked evidence overlays.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a P95 latency of under 2 seconds through parallel execution and Redis caching.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RAGTruth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benchmarks targeting ≥82% accuracy.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1248" y="3640530"/>
            <a:ext cx="841778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Work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real-time, model-agnostic middleware that verifies RAG-generated content at sentence/claim level and provides evidence-linked grounding scores with low latency.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91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19502"/>
              </p:ext>
            </p:extLst>
          </p:nvPr>
        </p:nvGraphicFramePr>
        <p:xfrm>
          <a:off x="795132" y="1025718"/>
          <a:ext cx="10455963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42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664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for Knowledge-Intensive NLP Tasks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DPR + BART with retrieved passages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improves knowledge-intensive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output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RAG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9512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FActScore</a:t>
                      </a: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Fine-grained Atomic Evaluation of Factual Precision in Long Form Text Generation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facts + NLI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fine-grained factual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Offline; costly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Atomic 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512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Niu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RAGTruth</a:t>
                      </a:r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Hallucination Corpus for Developing Trustworthy RAG Language Models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Hallucination 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hallucinations in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benchmark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664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Asai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Self-RAG: Learning to Retrieve, Generate, and Critique through Self-Reflection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 + self-critique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factuality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Model-agnostic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73195" y="723770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Literature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83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28559"/>
              </p:ext>
            </p:extLst>
          </p:nvPr>
        </p:nvGraphicFramePr>
        <p:xfrm>
          <a:off x="922354" y="1180210"/>
          <a:ext cx="20828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42300"/>
              </p:ext>
            </p:extLst>
          </p:nvPr>
        </p:nvGraphicFramePr>
        <p:xfrm>
          <a:off x="834223" y="1173936"/>
          <a:ext cx="10455963" cy="4481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7589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Es</a:t>
                      </a:r>
                      <a:r>
                        <a:rPr lang="en-IN" sz="1200" dirty="0"/>
                        <a:t>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RAGAs: Automated Evaluation of Retrieval Augmented Generation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LLM-based evaluation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Measures faithfulness/relevance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Expensive; offline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Real-time gap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Manakul</a:t>
                      </a:r>
                      <a:r>
                        <a:rPr lang="en-IN" sz="1200" dirty="0"/>
                        <a:t> et al., 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SelfCheckGPT</a:t>
                      </a:r>
                      <a:r>
                        <a:rPr lang="en-GB" sz="1200" dirty="0"/>
                        <a:t>: Zero-Resource Black-Box Hallucination Detection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Multiple responses + NLI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Detects inconsistent hallucinations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 inference 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Efficient verification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Gao</a:t>
                      </a:r>
                      <a:r>
                        <a:rPr lang="en-IN" sz="1200" dirty="0"/>
                        <a:t>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Retrieval-Augmented Generation for Large Language Models: A Survey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architecture survey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Identifies RAG challenges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runtime solution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Modular verification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Wei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SAFE: Search-Augmented Factuality Evaluator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Atomic facts + search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Improves factuality checking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 latency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Evidence verification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78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51728"/>
              </p:ext>
            </p:extLst>
          </p:nvPr>
        </p:nvGraphicFramePr>
        <p:xfrm>
          <a:off x="9199657" y="1778712"/>
          <a:ext cx="31123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73626"/>
              </p:ext>
            </p:extLst>
          </p:nvPr>
        </p:nvGraphicFramePr>
        <p:xfrm>
          <a:off x="834224" y="1332962"/>
          <a:ext cx="10455963" cy="4660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7589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Huang et al., 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 Survey on Hallucination in Large Language Models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Hallucination survey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Identifies causes of hallucination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implementation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Theoretical basis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He et al., 2021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DeBERTa</a:t>
                      </a:r>
                      <a:r>
                        <a:rPr lang="en-GB" sz="1200" dirty="0"/>
                        <a:t>: Decoding-enhanced BERT with Disentangled Attention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DeBERTa</a:t>
                      </a:r>
                      <a:r>
                        <a:rPr lang="en-IN" sz="1200" dirty="0"/>
                        <a:t> + NLI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Strong NLI performance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Cross-encoder latency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Approach B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Yan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Corrective Retrieval Augmented Generation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Retrieval evaluation + correction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Improves retrieval quality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Pre-generation only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Complementary approach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Barnett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Seven Failure Points When Engineering a Retrieval Augmented Generation System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RAG failure analysis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Identifies practical failures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runtime detection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Failure identification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40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254847"/>
              </p:ext>
            </p:extLst>
          </p:nvPr>
        </p:nvGraphicFramePr>
        <p:xfrm>
          <a:off x="889884" y="1205741"/>
          <a:ext cx="10455963" cy="419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3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7589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Author(s) &amp;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/ 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 / 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Relevance to Current Project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 et al., 2023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HaluEval</a:t>
                      </a:r>
                      <a:r>
                        <a:rPr lang="en-IN" sz="1200" dirty="0"/>
                        <a:t>: A Large-Scale Hallucination Evaluation Benchmark for Large Language Models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Hallucination benchmark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Evaluates hallucination detection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Not RAG-specific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Secondary benchmark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Laban et al., 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FaithBench</a:t>
                      </a:r>
                      <a:r>
                        <a:rPr lang="en-GB" sz="1200" dirty="0"/>
                        <a:t>: A Diverse Hallucination Benchmark for Summarization by Modern LLMs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Faithfulness benchmark</a:t>
                      </a:r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Tests subtle hallucinations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Single methods may fail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Ensemble approach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6307">
                <a:tc>
                  <a:txBody>
                    <a:bodyPr/>
                    <a:lstStyle/>
                    <a:p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Reimers</a:t>
                      </a:r>
                      <a:r>
                        <a:rPr lang="en-IN" sz="1200" dirty="0"/>
                        <a:t> &amp; </a:t>
                      </a:r>
                      <a:r>
                        <a:rPr lang="en-IN" sz="1200" dirty="0" err="1"/>
                        <a:t>Gurevych</a:t>
                      </a:r>
                      <a:r>
                        <a:rPr lang="en-IN" sz="1200" dirty="0"/>
                        <a:t>, 2019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Sentence-BERT: Sentence </a:t>
                      </a:r>
                      <a:r>
                        <a:rPr lang="en-GB" sz="1200" dirty="0" err="1"/>
                        <a:t>Embeddings</a:t>
                      </a:r>
                      <a:r>
                        <a:rPr lang="en-GB" sz="1200" dirty="0"/>
                        <a:t> using Siamese BERT-Networks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Sentence </a:t>
                      </a:r>
                      <a:r>
                        <a:rPr lang="en-IN" sz="1200" dirty="0" err="1"/>
                        <a:t>embeddings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Efficient semantic similarity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Similarity ≠ entailment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Approach A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46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5472" y="731722"/>
            <a:ext cx="44890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40030" algn="ctr">
              <a:spcBef>
                <a:spcPts val="455"/>
              </a:spcBef>
              <a:spcAft>
                <a:spcPts val="0"/>
              </a:spcAft>
            </a:pPr>
            <a:r>
              <a:rPr lang="en-US" sz="3600" kern="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Comparative</a:t>
            </a:r>
            <a:r>
              <a:rPr lang="en-US" sz="3600" kern="0" spc="-23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kern="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Analysis</a:t>
            </a:r>
            <a:endParaRPr lang="en-IN" sz="3600" kern="0" dirty="0">
              <a:effectLst/>
              <a:latin typeface="Times New Roman" panose="02020603050405020304" pitchFamily="18" charset="0"/>
              <a:ea typeface="Garamond" panose="020204040303010108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6273"/>
              </p:ext>
            </p:extLst>
          </p:nvPr>
        </p:nvGraphicFramePr>
        <p:xfrm>
          <a:off x="2248815" y="1298089"/>
          <a:ext cx="7472238" cy="489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IN" dirty="0"/>
                        <a:t>Existing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VeritasRAG</a:t>
                      </a:r>
                      <a:r>
                        <a:rPr lang="en-IN" dirty="0"/>
                        <a:t> Advantage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RAG</a:t>
                      </a:r>
                      <a:r>
                        <a:rPr lang="en-IN"/>
                        <a:t> – Lewis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hallucination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Adds post-generation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FActScore</a:t>
                      </a:r>
                      <a:r>
                        <a:rPr lang="en-IN"/>
                        <a:t> – Min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Offline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claim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489">
                <a:tc>
                  <a:txBody>
                    <a:bodyPr/>
                    <a:lstStyle/>
                    <a:p>
                      <a:r>
                        <a:rPr lang="en-IN" b="1"/>
                        <a:t>RAGTruth</a:t>
                      </a:r>
                      <a:r>
                        <a:rPr lang="en-IN"/>
                        <a:t> – Niu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Benchmark, not 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Used for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Self-RAG</a:t>
                      </a:r>
                      <a:r>
                        <a:rPr lang="en-IN"/>
                        <a:t> – Asai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Requires model 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Model-agnostic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RAGAs</a:t>
                      </a:r>
                      <a:r>
                        <a:rPr lang="en-IN"/>
                        <a:t> – Es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cost; offline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Low-latency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 dirty="0" err="1"/>
                        <a:t>SelfCheckGPT</a:t>
                      </a:r>
                      <a:r>
                        <a:rPr lang="en-IN" dirty="0"/>
                        <a:t> – </a:t>
                      </a:r>
                      <a:r>
                        <a:rPr lang="en-IN" dirty="0" err="1"/>
                        <a:t>Manakul</a:t>
                      </a:r>
                      <a:r>
                        <a:rPr lang="en-IN" dirty="0"/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Multiple LLM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Evidence-based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SAFE</a:t>
                      </a:r>
                      <a:r>
                        <a:rPr lang="en-IN"/>
                        <a:t> – Wei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retrieved RAG 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90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71211"/>
              </p:ext>
            </p:extLst>
          </p:nvPr>
        </p:nvGraphicFramePr>
        <p:xfrm>
          <a:off x="2055802" y="1295699"/>
          <a:ext cx="7472238" cy="195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07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IN" dirty="0"/>
                        <a:t>Existing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VeritasRAG</a:t>
                      </a:r>
                      <a:r>
                        <a:rPr lang="en-IN" dirty="0"/>
                        <a:t> Advantage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/>
                        <a:t>Sentence-BERT</a:t>
                      </a:r>
                      <a:r>
                        <a:rPr lang="en-IN"/>
                        <a:t> – Reimers &amp; Gurevych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Similarity ≠ factuality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Combined with NLI + fact 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203">
                <a:tc>
                  <a:txBody>
                    <a:bodyPr/>
                    <a:lstStyle/>
                    <a:p>
                      <a:r>
                        <a:rPr lang="en-IN" b="1" dirty="0" err="1"/>
                        <a:t>VeritasRAG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aseline="0" dirty="0"/>
                        <a:t>                -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Real-time, evidence-linked, model-agnostic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73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25550" y="779430"/>
            <a:ext cx="53900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Research</a:t>
            </a:r>
            <a:r>
              <a:rPr lang="en-US" sz="3600" spc="-19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Gap</a:t>
            </a:r>
            <a:r>
              <a:rPr lang="en-US" sz="3600" spc="-18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Identification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46421" y="1425761"/>
            <a:ext cx="9204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Gaps Found in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hallucination verification in RAG pipelines.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sentence-level and claim-level grounding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may have high latency.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methods require LLM fine-tuning or modification.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evidence-linked and user-friendly grounding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verification methods have limitations when used alone. </a:t>
            </a:r>
          </a:p>
          <a:p>
            <a:endParaRPr lang="en-GB" dirty="0"/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for Selecting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gaps indicate the need for a non-invasive, model-agnostic verification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Embedding Similarity, NLI Cross-Encoder, and Atomic Fact Entailment.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grounding scores, cited evidence, and visual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targets real-time verification with P95 latency below 2 seconds.</a:t>
            </a:r>
          </a:p>
        </p:txBody>
      </p:sp>
    </p:spTree>
    <p:extLst>
      <p:ext uri="{BB962C8B-B14F-4D97-AF65-F5344CB8AC3E}">
        <p14:creationId xmlns:p14="http://schemas.microsoft.com/office/powerpoint/2010/main" val="298918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2109" y="684014"/>
            <a:ext cx="33502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Proposed</a:t>
            </a:r>
            <a:r>
              <a:rPr lang="en-US" sz="3600" spc="-15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System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96063" y="1591589"/>
            <a:ext cx="80467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VeritasRAG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pluggable, non-invasive middleware layer for RAG pipelines.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generated responses at sentence and claim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three verification approaches: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Similarity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NLI Cross-Encoder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Fact Entailment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grounding scores and evidence-linked output.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content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 - Green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Inferred - Yellow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- 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caching and parallel execution to achieve low-latency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8305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69728" y="723771"/>
            <a:ext cx="50186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Work</a:t>
            </a:r>
            <a:r>
              <a:rPr lang="en-US" sz="3600" spc="-21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Completed</a:t>
            </a:r>
            <a:r>
              <a:rPr lang="en-US" sz="3600" spc="-21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Till</a:t>
            </a:r>
            <a:r>
              <a:rPr lang="en-US" sz="3600" spc="-22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Now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78943" y="1254686"/>
            <a:ext cx="4487126" cy="4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finalized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of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 papers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completed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completed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Scope finalized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designed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Approaches identified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selected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prepared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 completed </a:t>
            </a:r>
          </a:p>
        </p:txBody>
      </p:sp>
    </p:spTree>
    <p:extLst>
      <p:ext uri="{BB962C8B-B14F-4D97-AF65-F5344CB8AC3E}">
        <p14:creationId xmlns:p14="http://schemas.microsoft.com/office/powerpoint/2010/main" val="387273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89770" y="699916"/>
            <a:ext cx="21813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Next</a:t>
            </a:r>
            <a:r>
              <a:rPr lang="en-US" sz="3600" spc="-8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Steps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7440" y="1415533"/>
            <a:ext cx="4049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Work for Next Review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02202" y="4242139"/>
            <a:ext cx="49618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up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 and CI/CD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sentence splitter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 A – Embedding Similarity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DAC77C-98B2-96E4-50BE-56DA16B910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610" y="2056306"/>
            <a:ext cx="6400800" cy="218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1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61940" y="715819"/>
            <a:ext cx="2223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spc="-10" dirty="0">
                <a:solidFill>
                  <a:srgbClr val="252525"/>
                </a:solidFill>
                <a:effectLst/>
                <a:latin typeface="Times New Roman" panose="02020603050405020304" pitchFamily="18" charset="0"/>
                <a:ea typeface="Garamond" panose="02020404030301010803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22351" y="1443108"/>
            <a:ext cx="10400305" cy="448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 Lewis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“Retrieval-Augmented Generation for Knowledge-Intensive NLP Tasks,”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Min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Fine-grained Atomic Evaluation of Factual Precision in Long Form Text Generation,”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RAGTruth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Hallucination Corpus for Developing Trustworthy RAG Language Models,”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ACL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“Self-RAG: Learning to Retrieve, Generate, and Critique through Self-Reflection,”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Learning Representations (ICLR)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“RAGAs: Automated Evaluation of Retrieval Augmented Generation,”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EACL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P.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Manakul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Liusie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J. F. Gales,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SelfCheckGPT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Zero-Resource Black-Box Hallucination Detection for Generative Large Language Models,”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Y.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“Retrieval-Augmented Generation for Large Language Models: A Survey,” 2024.</a:t>
            </a:r>
          </a:p>
        </p:txBody>
      </p:sp>
    </p:spTree>
    <p:extLst>
      <p:ext uri="{BB962C8B-B14F-4D97-AF65-F5344CB8AC3E}">
        <p14:creationId xmlns:p14="http://schemas.microsoft.com/office/powerpoint/2010/main" val="3801813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1503391"/>
            <a:ext cx="10273085" cy="4480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J. Wei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“SAFE: Search-Augmented Factuality Evaluator,”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L. Huang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Survey on Hallucination in Large Language Models: Principles, Taxonomy, Challenges, and Open Questions,”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He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Decoding-enhanced BERT with Disentangled Attention,”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Learning Representations (ICLR)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S. Q. Yan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“Corrective Retrieval Augmented Generation,”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S. Barnett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“Seven Failure Points When Engineering a Retrieval Augmented Generation System,”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J. Li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HaluEval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Large-Scale Hallucination Evaluation Benchmark for Large Language Models,”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P. Laban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FaithBench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Diverse Hallucination Benchmark for Summarization by Modern LLMs,” 2024.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Reimers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“Sentence-BERT: Sentence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Siamese BERT-Networks,”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EMNLP-IJCNLP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</p:txBody>
      </p:sp>
    </p:spTree>
    <p:extLst>
      <p:ext uri="{BB962C8B-B14F-4D97-AF65-F5344CB8AC3E}">
        <p14:creationId xmlns:p14="http://schemas.microsoft.com/office/powerpoint/2010/main" val="995710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244</TotalTime>
  <Words>1483</Words>
  <Application>Microsoft Office PowerPoint</Application>
  <PresentationFormat>Widescreen</PresentationFormat>
  <Paragraphs>260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Dhanvin kadiir</cp:lastModifiedBy>
  <cp:revision>15</cp:revision>
  <dcterms:created xsi:type="dcterms:W3CDTF">2026-08-12T14:40:00Z</dcterms:created>
  <dcterms:modified xsi:type="dcterms:W3CDTF">2026-08-30T13:57:03Z</dcterms:modified>
</cp:coreProperties>
</file>