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73" r:id="rId2"/>
    <p:sldId id="272" r:id="rId3"/>
    <p:sldId id="274" r:id="rId4"/>
    <p:sldId id="295" r:id="rId5"/>
    <p:sldId id="276" r:id="rId6"/>
    <p:sldId id="280" r:id="rId7"/>
    <p:sldId id="282" r:id="rId8"/>
    <p:sldId id="283" r:id="rId9"/>
    <p:sldId id="284" r:id="rId10"/>
    <p:sldId id="285" r:id="rId11"/>
    <p:sldId id="286" r:id="rId12"/>
    <p:sldId id="28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8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81EE302C-63C4-4CCF-9213-A8E16CBA93EB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2708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302C-63C4-4CCF-9213-A8E16CBA93EB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6141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302C-63C4-4CCF-9213-A8E16CBA93EB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4367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302C-63C4-4CCF-9213-A8E16CBA93EB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5849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302C-63C4-4CCF-9213-A8E16CBA93EB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1759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302C-63C4-4CCF-9213-A8E16CBA93EB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0095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302C-63C4-4CCF-9213-A8E16CBA93EB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782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302C-63C4-4CCF-9213-A8E16CBA93EB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3334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302C-63C4-4CCF-9213-A8E16CBA93EB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8091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302C-63C4-4CCF-9213-A8E16CBA93EB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1062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302C-63C4-4CCF-9213-A8E16CBA93EB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00838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302C-63C4-4CCF-9213-A8E16CBA93EB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25264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302C-63C4-4CCF-9213-A8E16CBA93EB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02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302C-63C4-4CCF-9213-A8E16CBA93EB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83898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302C-63C4-4CCF-9213-A8E16CBA93EB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21279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302C-63C4-4CCF-9213-A8E16CBA93EB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26738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302C-63C4-4CCF-9213-A8E16CBA93EB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3205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1EE302C-63C4-4CCF-9213-A8E16CBA93EB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571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ajalakshmi Engineering College (REC ...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540" y="1123784"/>
            <a:ext cx="5312300" cy="114976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3047999" y="2828836"/>
            <a:ext cx="635839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GB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Computer Science &amp; Business Systems</a:t>
            </a:r>
          </a:p>
          <a:p>
            <a:pPr algn="ctr"/>
            <a:r>
              <a:rPr lang="en-GB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CB23721 – Project Evaluation I </a:t>
            </a:r>
          </a:p>
          <a:p>
            <a:pPr algn="ctr"/>
            <a:r>
              <a:rPr lang="en-GB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3</a:t>
            </a:r>
            <a:endParaRPr lang="en-GB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9325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5466960"/>
              </p:ext>
            </p:extLst>
          </p:nvPr>
        </p:nvGraphicFramePr>
        <p:xfrm>
          <a:off x="1425271" y="1081377"/>
          <a:ext cx="9601200" cy="1300038"/>
        </p:xfrm>
        <a:graphic>
          <a:graphicData uri="http://schemas.openxmlformats.org/drawingml/2006/table">
            <a:tbl>
              <a:tblPr/>
              <a:tblGrid>
                <a:gridCol w="960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00038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VeritasRAG</a:t>
                      </a: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A Hallucination-Flagging Layer for RAG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526650" y="2568273"/>
            <a:ext cx="9398442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200"/>
            </a:pPr>
            <a:r>
              <a:rPr lang="en-IN" b="1" dirty="0"/>
              <a:t>Team Members : </a:t>
            </a:r>
          </a:p>
          <a:p>
            <a:pPr marL="457200" indent="-457200">
              <a:buFont typeface="+mj-lt"/>
              <a:buAutoNum type="arabicPeriod"/>
              <a:defRPr sz="2200"/>
            </a:pPr>
            <a:r>
              <a:rPr lang="en-US" dirty="0" err="1"/>
              <a:t>Architha</a:t>
            </a:r>
            <a:r>
              <a:rPr lang="en-US" dirty="0"/>
              <a:t> M - 231401013</a:t>
            </a:r>
          </a:p>
          <a:p>
            <a:pPr marL="457200" indent="-457200">
              <a:buFont typeface="+mj-lt"/>
              <a:buAutoNum type="arabicPeriod"/>
              <a:defRPr sz="2200"/>
            </a:pPr>
            <a:r>
              <a:rPr lang="en-US" dirty="0" err="1"/>
              <a:t>Dhanvin</a:t>
            </a:r>
            <a:r>
              <a:rPr lang="en-US" dirty="0"/>
              <a:t> </a:t>
            </a:r>
            <a:r>
              <a:rPr lang="en-US" dirty="0" err="1"/>
              <a:t>Kadiir</a:t>
            </a:r>
            <a:r>
              <a:rPr lang="en-US" dirty="0"/>
              <a:t> – 231401022</a:t>
            </a:r>
          </a:p>
          <a:p>
            <a:pPr>
              <a:defRPr sz="2200"/>
            </a:pPr>
            <a:r>
              <a:rPr lang="en-US" b="1" dirty="0"/>
              <a:t>Guide : </a:t>
            </a:r>
          </a:p>
          <a:p>
            <a:pPr>
              <a:defRPr sz="2200"/>
            </a:pPr>
            <a:r>
              <a:rPr lang="en-US" dirty="0"/>
              <a:t>	Mrs. </a:t>
            </a:r>
            <a:r>
              <a:rPr lang="en-US" dirty="0" err="1"/>
              <a:t>Poornimathi</a:t>
            </a:r>
            <a:r>
              <a:rPr lang="en-US" dirty="0"/>
              <a:t> K</a:t>
            </a:r>
          </a:p>
          <a:p>
            <a:pPr>
              <a:defRPr sz="2200"/>
            </a:pPr>
            <a:r>
              <a:rPr lang="en-US" dirty="0"/>
              <a:t>	Assistant Professor(SG)</a:t>
            </a:r>
          </a:p>
          <a:p>
            <a:pPr>
              <a:defRPr sz="2200"/>
            </a:pPr>
            <a:r>
              <a:rPr lang="en-IN" dirty="0"/>
              <a:t>	</a:t>
            </a:r>
            <a:r>
              <a:rPr lang="en-IN" dirty="0" err="1"/>
              <a:t>B.Tech</a:t>
            </a:r>
            <a:r>
              <a:rPr lang="en-IN" dirty="0"/>
              <a:t> Computer Science and Business Systems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6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E0B1D1-5062-0595-D248-82B9DE371548}"/>
              </a:ext>
            </a:extLst>
          </p:cNvPr>
          <p:cNvSpPr txBox="1"/>
          <p:nvPr/>
        </p:nvSpPr>
        <p:spPr>
          <a:xfrm>
            <a:off x="1000125" y="685800"/>
            <a:ext cx="10191750" cy="7143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algn="ctr"/>
            <a:r>
              <a:rPr lang="en-IN" sz="3300">
                <a:solidFill>
                  <a:srgbClr val="252525"/>
                </a:solidFill>
                <a:latin typeface="Times New Roman" panose="02020603050405020304" pitchFamily="18" charset="0"/>
              </a:rPr>
              <a:t>Project Overview and Scope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49F0AB-440E-0E40-7E1B-951E0C5A2095}"/>
              </a:ext>
            </a:extLst>
          </p:cNvPr>
          <p:cNvSpPr txBox="1"/>
          <p:nvPr/>
        </p:nvSpPr>
        <p:spPr>
          <a:xfrm>
            <a:off x="1381125" y="1666875"/>
            <a:ext cx="9525000" cy="40005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r>
              <a:rPr lang="en-IN" sz="2250" b="1">
                <a:solidFill>
                  <a:srgbClr val="252525"/>
                </a:solidFill>
                <a:latin typeface="Times New Roman" panose="02020603050405020304" pitchFamily="18" charset="0"/>
              </a:rPr>
              <a:t>VeritasRAG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3D385D-396D-AEE2-32C2-E5B8262F4CD7}"/>
              </a:ext>
            </a:extLst>
          </p:cNvPr>
          <p:cNvSpPr txBox="1"/>
          <p:nvPr/>
        </p:nvSpPr>
        <p:spPr>
          <a:xfrm>
            <a:off x="1381125" y="2143125"/>
            <a:ext cx="9477375" cy="24765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228600" indent="-127000">
              <a:spcAft>
                <a:spcPts val="1300"/>
              </a:spcAft>
              <a:buFont typeface="+mj-lt"/>
              <a:buChar char="•"/>
            </a:pPr>
            <a:r>
              <a:rPr lang="en-US" sz="2100">
                <a:solidFill>
                  <a:srgbClr val="252525"/>
                </a:solidFill>
                <a:latin typeface="Times New Roman" panose="02020603050405020304" pitchFamily="18" charset="0"/>
              </a:rPr>
              <a:t>Checks how closely each answer sentence matches the supplied document evidence.</a:t>
            </a:r>
          </a:p>
          <a:p>
            <a:pPr marL="228600" indent="-127000">
              <a:spcAft>
                <a:spcPts val="1300"/>
              </a:spcAft>
              <a:buFont typeface="+mj-lt"/>
              <a:buChar char="•"/>
            </a:pPr>
            <a:r>
              <a:rPr lang="en-US" sz="2100">
                <a:solidFill>
                  <a:srgbClr val="252525"/>
                </a:solidFill>
                <a:latin typeface="Times New Roman" panose="02020603050405020304" pitchFamily="18" charset="0"/>
              </a:rPr>
              <a:t>Approach A uses all-MiniLM-L6-v2 embeddings and cosine similarity.</a:t>
            </a:r>
          </a:p>
          <a:p>
            <a:pPr marL="228600" indent="-127000">
              <a:spcAft>
                <a:spcPts val="1300"/>
              </a:spcAft>
              <a:buFont typeface="+mj-lt"/>
              <a:buChar char="•"/>
            </a:pPr>
            <a:r>
              <a:rPr lang="en-US" sz="2100">
                <a:solidFill>
                  <a:srgbClr val="252525"/>
                </a:solidFill>
                <a:latin typeface="Times New Roman" panose="02020603050405020304" pitchFamily="18" charset="0"/>
              </a:rPr>
              <a:t>Returns a sentence label, similarity score and linked evidence excerpt.</a:t>
            </a:r>
            <a:endParaRPr lang="en-IN" sz="2100">
              <a:solidFill>
                <a:srgbClr val="252525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41B3A9-098B-078A-0FCE-36BE0EEA28CE}"/>
              </a:ext>
            </a:extLst>
          </p:cNvPr>
          <p:cNvSpPr txBox="1"/>
          <p:nvPr/>
        </p:nvSpPr>
        <p:spPr>
          <a:xfrm>
            <a:off x="1381125" y="4714875"/>
            <a:ext cx="9525000" cy="40005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r>
              <a:rPr lang="en-IN" sz="2250" b="1">
                <a:solidFill>
                  <a:srgbClr val="252525"/>
                </a:solidFill>
                <a:latin typeface="Times New Roman" panose="02020603050405020304" pitchFamily="18" charset="0"/>
              </a:rPr>
              <a:t>Review 3 scope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2B4134-77AF-7827-F098-F6DB6AC08168}"/>
              </a:ext>
            </a:extLst>
          </p:cNvPr>
          <p:cNvSpPr txBox="1"/>
          <p:nvPr/>
        </p:nvSpPr>
        <p:spPr>
          <a:xfrm>
            <a:off x="1381125" y="5200650"/>
            <a:ext cx="9334500" cy="7620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r>
              <a:rPr lang="en-US" sz="2100">
                <a:solidFill>
                  <a:srgbClr val="252525"/>
                </a:solidFill>
                <a:latin typeface="Times New Roman" panose="02020603050405020304" pitchFamily="18" charset="0"/>
              </a:rPr>
              <a:t>Document processing, module design and the implemented Approach A workflow.</a:t>
            </a:r>
            <a:endParaRPr lang="en-IN" sz="2100">
              <a:solidFill>
                <a:srgbClr val="252525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6146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D67B15-1DF7-13A2-4868-56FF54A22753}"/>
              </a:ext>
            </a:extLst>
          </p:cNvPr>
          <p:cNvSpPr txBox="1"/>
          <p:nvPr/>
        </p:nvSpPr>
        <p:spPr>
          <a:xfrm>
            <a:off x="1206500" y="749300"/>
            <a:ext cx="9779000" cy="4826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ctr">
            <a:noAutofit/>
          </a:bodyPr>
          <a:lstStyle/>
          <a:p>
            <a:r>
              <a:rPr lang="en-US" sz="2500">
                <a:solidFill>
                  <a:srgbClr val="292821"/>
                </a:solidFill>
                <a:latin typeface="Georgia" panose="02040502050405020303" pitchFamily="18" charset="0"/>
              </a:rPr>
              <a:t>Verifier Architecture | Approaches A, B and C</a:t>
            </a:r>
            <a:endParaRPr lang="en-IN" sz="2500">
              <a:solidFill>
                <a:srgbClr val="292821"/>
              </a:solidFill>
              <a:latin typeface="Georgia" panose="02040502050405020303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DF9DD6-8EBD-1BAA-F10B-4348CAD104F4}"/>
              </a:ext>
            </a:extLst>
          </p:cNvPr>
          <p:cNvSpPr/>
          <p:nvPr/>
        </p:nvSpPr>
        <p:spPr>
          <a:xfrm>
            <a:off x="731158" y="1364333"/>
            <a:ext cx="1905000" cy="825500"/>
          </a:xfrm>
          <a:prstGeom prst="roundRect">
            <a:avLst/>
          </a:prstGeom>
          <a:solidFill>
            <a:srgbClr val="F6F2E6"/>
          </a:solidFill>
          <a:ln w="15240">
            <a:solidFill>
              <a:srgbClr val="8D9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>
            <a:noAutofit/>
          </a:bodyPr>
          <a:lstStyle/>
          <a:p>
            <a:r>
              <a:rPr lang="en-IN" sz="1100" b="1">
                <a:solidFill>
                  <a:srgbClr val="24241E"/>
                </a:solidFill>
                <a:latin typeface="Georgia" panose="02040502050405020303" pitchFamily="18" charset="0"/>
              </a:rPr>
              <a:t>Input contract</a:t>
            </a:r>
          </a:p>
          <a:p>
            <a:r>
              <a:rPr lang="en-IN" sz="1100" b="1">
                <a:solidFill>
                  <a:srgbClr val="24241E"/>
                </a:solidFill>
                <a:latin typeface="Georgia" panose="02040502050405020303" pitchFamily="18" charset="0"/>
              </a:rPr>
              <a:t>query - response - chunks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941439C-6326-FB38-CD2B-28CBBC6F8D58}"/>
              </a:ext>
            </a:extLst>
          </p:cNvPr>
          <p:cNvCxnSpPr/>
          <p:nvPr/>
        </p:nvCxnSpPr>
        <p:spPr>
          <a:xfrm>
            <a:off x="2648858" y="1770733"/>
            <a:ext cx="520700" cy="0"/>
          </a:xfrm>
          <a:prstGeom prst="straightConnector1">
            <a:avLst/>
          </a:prstGeom>
          <a:ln w="19050">
            <a:solidFill>
              <a:srgbClr val="6675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E9DFEE7-9349-19C3-EE9A-5E82D7423B5A}"/>
              </a:ext>
            </a:extLst>
          </p:cNvPr>
          <p:cNvSpPr/>
          <p:nvPr/>
        </p:nvSpPr>
        <p:spPr>
          <a:xfrm>
            <a:off x="3182258" y="1364333"/>
            <a:ext cx="1841500" cy="825500"/>
          </a:xfrm>
          <a:prstGeom prst="roundRect">
            <a:avLst/>
          </a:prstGeom>
          <a:solidFill>
            <a:srgbClr val="E9EBD9"/>
          </a:solidFill>
          <a:ln w="15240">
            <a:solidFill>
              <a:srgbClr val="8D9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>
            <a:noAutofit/>
          </a:bodyPr>
          <a:lstStyle/>
          <a:p>
            <a:r>
              <a:rPr lang="en-IN" sz="1100" b="1" dirty="0">
                <a:solidFill>
                  <a:srgbClr val="24241E"/>
                </a:solidFill>
                <a:latin typeface="Georgia" panose="02040502050405020303" pitchFamily="18" charset="0"/>
              </a:rPr>
              <a:t>Normalize chunks</a:t>
            </a:r>
          </a:p>
          <a:p>
            <a:r>
              <a:rPr lang="en-IN" sz="1100" b="1" dirty="0">
                <a:solidFill>
                  <a:srgbClr val="24241E"/>
                </a:solidFill>
                <a:latin typeface="Georgia" panose="02040502050405020303" pitchFamily="18" charset="0"/>
              </a:rPr>
              <a:t>Chunk model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225D5F1-F765-1B4F-6919-BBE69ECD9E74}"/>
              </a:ext>
            </a:extLst>
          </p:cNvPr>
          <p:cNvCxnSpPr/>
          <p:nvPr/>
        </p:nvCxnSpPr>
        <p:spPr>
          <a:xfrm>
            <a:off x="5036458" y="1770733"/>
            <a:ext cx="520700" cy="0"/>
          </a:xfrm>
          <a:prstGeom prst="straightConnector1">
            <a:avLst/>
          </a:prstGeom>
          <a:ln w="19050">
            <a:solidFill>
              <a:srgbClr val="6675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82963B0-195C-4EFA-A4D9-B737BC0D45AF}"/>
              </a:ext>
            </a:extLst>
          </p:cNvPr>
          <p:cNvSpPr/>
          <p:nvPr/>
        </p:nvSpPr>
        <p:spPr>
          <a:xfrm>
            <a:off x="5569858" y="1364333"/>
            <a:ext cx="1866900" cy="825500"/>
          </a:xfrm>
          <a:prstGeom prst="roundRect">
            <a:avLst/>
          </a:prstGeom>
          <a:solidFill>
            <a:srgbClr val="EEF0E7"/>
          </a:solidFill>
          <a:ln w="15240">
            <a:solidFill>
              <a:srgbClr val="8D9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>
            <a:noAutofit/>
          </a:bodyPr>
          <a:lstStyle/>
          <a:p>
            <a:r>
              <a:rPr lang="en-IN" sz="1000" b="1">
                <a:solidFill>
                  <a:srgbClr val="24241E"/>
                </a:solidFill>
                <a:latin typeface="Georgia" panose="02040502050405020303" pitchFamily="18" charset="0"/>
              </a:rPr>
              <a:t>SentenceSplitter</a:t>
            </a:r>
          </a:p>
          <a:p>
            <a:r>
              <a:rPr lang="en-IN" sz="1000" b="1">
                <a:solidFill>
                  <a:srgbClr val="24241E"/>
                </a:solidFill>
                <a:latin typeface="Georgia" panose="02040502050405020303" pitchFamily="18" charset="0"/>
              </a:rPr>
              <a:t>spaCy; sentencizer fallback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EEAD346-95E7-935E-5275-E985405BDD93}"/>
              </a:ext>
            </a:extLst>
          </p:cNvPr>
          <p:cNvCxnSpPr/>
          <p:nvPr/>
        </p:nvCxnSpPr>
        <p:spPr>
          <a:xfrm>
            <a:off x="7449458" y="1770733"/>
            <a:ext cx="520700" cy="0"/>
          </a:xfrm>
          <a:prstGeom prst="straightConnector1">
            <a:avLst/>
          </a:prstGeom>
          <a:ln w="19050">
            <a:solidFill>
              <a:srgbClr val="6675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AD31715-7AD0-70A0-ADC3-4CAC7BE75CFE}"/>
              </a:ext>
            </a:extLst>
          </p:cNvPr>
          <p:cNvSpPr/>
          <p:nvPr/>
        </p:nvSpPr>
        <p:spPr>
          <a:xfrm>
            <a:off x="7982858" y="1364333"/>
            <a:ext cx="3517900" cy="825500"/>
          </a:xfrm>
          <a:prstGeom prst="roundRect">
            <a:avLst/>
          </a:prstGeom>
          <a:solidFill>
            <a:srgbClr val="8D9D2D"/>
          </a:solidFill>
          <a:ln w="15240">
            <a:solidFill>
              <a:srgbClr val="6473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>
            <a:noAutofit/>
          </a:bodyPr>
          <a:lstStyle/>
          <a:p>
            <a:r>
              <a:rPr lang="en-IN" sz="1100" b="1">
                <a:solidFill>
                  <a:srgbClr val="FFFFFF"/>
                </a:solidFill>
                <a:latin typeface="Georgia" panose="02040502050405020303" pitchFamily="18" charset="0"/>
              </a:rPr>
              <a:t>VeritasMiddleware mode dispatcher</a:t>
            </a:r>
          </a:p>
          <a:p>
            <a:r>
              <a:rPr lang="en-IN" sz="1100" b="1">
                <a:solidFill>
                  <a:srgbClr val="FFFFFF"/>
                </a:solidFill>
                <a:latin typeface="Georgia" panose="02040502050405020303" pitchFamily="18" charset="0"/>
              </a:rPr>
              <a:t>embedding - nli - ensemble - atomic - hybrid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9B62A83-CE54-E529-64CA-F2CA441261CF}"/>
              </a:ext>
            </a:extLst>
          </p:cNvPr>
          <p:cNvCxnSpPr/>
          <p:nvPr/>
        </p:nvCxnSpPr>
        <p:spPr>
          <a:xfrm>
            <a:off x="9735458" y="2202533"/>
            <a:ext cx="0" cy="317500"/>
          </a:xfrm>
          <a:prstGeom prst="straightConnector1">
            <a:avLst/>
          </a:prstGeom>
          <a:ln w="19050">
            <a:solidFill>
              <a:srgbClr val="6675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EE590E1-3493-E853-0BC5-E4AA9897DE58}"/>
              </a:ext>
            </a:extLst>
          </p:cNvPr>
          <p:cNvSpPr/>
          <p:nvPr/>
        </p:nvSpPr>
        <p:spPr>
          <a:xfrm>
            <a:off x="731158" y="2558133"/>
            <a:ext cx="3403600" cy="1651000"/>
          </a:xfrm>
          <a:prstGeom prst="roundRect">
            <a:avLst/>
          </a:prstGeom>
          <a:solidFill>
            <a:srgbClr val="E5EBCF"/>
          </a:solidFill>
          <a:ln w="15240">
            <a:solidFill>
              <a:srgbClr val="8D9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>
            <a:noAutofit/>
          </a:bodyPr>
          <a:lstStyle/>
          <a:p>
            <a:r>
              <a:rPr lang="en-US" sz="1100" b="1">
                <a:solidFill>
                  <a:srgbClr val="24241E"/>
                </a:solidFill>
                <a:latin typeface="Georgia" panose="02040502050405020303" pitchFamily="18" charset="0"/>
              </a:rPr>
              <a:t>APPROACH A  |  embedding</a:t>
            </a:r>
          </a:p>
          <a:p>
            <a:r>
              <a:rPr lang="en-US" sz="1100" b="1">
                <a:solidFill>
                  <a:srgbClr val="24241E"/>
                </a:solidFill>
                <a:latin typeface="Georgia" panose="02040502050405020303" pitchFamily="18" charset="0"/>
              </a:rPr>
              <a:t>Sentence-Transformers MiniLM bi-encoder</a:t>
            </a:r>
          </a:p>
          <a:p>
            <a:r>
              <a:rPr lang="en-US" sz="1100" b="1">
                <a:solidFill>
                  <a:srgbClr val="24241E"/>
                </a:solidFill>
                <a:latin typeface="Georgia" panose="02040502050405020303" pitchFamily="18" charset="0"/>
              </a:rPr>
              <a:t>Sentence - chunk cosine similarity</a:t>
            </a:r>
          </a:p>
          <a:p>
            <a:r>
              <a:rPr lang="en-US" sz="1100" b="1">
                <a:solidFill>
                  <a:srgbClr val="24241E"/>
                </a:solidFill>
                <a:latin typeface="Georgia" panose="02040502050405020303" pitchFamily="18" charset="0"/>
              </a:rPr>
              <a:t>Grounded - 0.75 - inferred - 0.50</a:t>
            </a:r>
          </a:p>
          <a:p>
            <a:r>
              <a:rPr lang="en-US" sz="1100" b="1">
                <a:solidFill>
                  <a:srgbClr val="24241E"/>
                </a:solidFill>
                <a:latin typeface="Georgia" panose="02040502050405020303" pitchFamily="18" charset="0"/>
              </a:rPr>
              <a:t>SHA-256-keyed in-memory chunk cache</a:t>
            </a:r>
            <a:endParaRPr lang="en-IN" sz="1100" b="1">
              <a:solidFill>
                <a:srgbClr val="24241E"/>
              </a:solidFill>
              <a:latin typeface="Georgia" panose="02040502050405020303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3E754B2-3F35-2762-C32E-9C85B7E6F56D}"/>
              </a:ext>
            </a:extLst>
          </p:cNvPr>
          <p:cNvSpPr/>
          <p:nvPr/>
        </p:nvSpPr>
        <p:spPr>
          <a:xfrm>
            <a:off x="4426858" y="2558133"/>
            <a:ext cx="3403600" cy="1651000"/>
          </a:xfrm>
          <a:prstGeom prst="roundRect">
            <a:avLst/>
          </a:prstGeom>
          <a:solidFill>
            <a:srgbClr val="E4EBDD"/>
          </a:solidFill>
          <a:ln w="15240">
            <a:solidFill>
              <a:srgbClr val="8D9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>
            <a:noAutofit/>
          </a:bodyPr>
          <a:lstStyle/>
          <a:p>
            <a:r>
              <a:rPr lang="en-IN" sz="1100" b="1">
                <a:solidFill>
                  <a:srgbClr val="24241E"/>
                </a:solidFill>
                <a:latin typeface="Georgia" panose="02040502050405020303" pitchFamily="18" charset="0"/>
              </a:rPr>
              <a:t>APPROACH B  |  nli</a:t>
            </a:r>
          </a:p>
          <a:p>
            <a:r>
              <a:rPr lang="en-IN" sz="1100" b="1">
                <a:solidFill>
                  <a:srgbClr val="24241E"/>
                </a:solidFill>
                <a:latin typeface="Georgia" panose="02040502050405020303" pitchFamily="18" charset="0"/>
              </a:rPr>
              <a:t>DeBERTa-v3 cross-encoder</a:t>
            </a:r>
          </a:p>
          <a:p>
            <a:r>
              <a:rPr lang="en-IN" sz="1100" b="1">
                <a:solidFill>
                  <a:srgbClr val="24241E"/>
                </a:solidFill>
                <a:latin typeface="Georgia" panose="02040502050405020303" pitchFamily="18" charset="0"/>
              </a:rPr>
              <a:t>(chunk premise, answer hypothesis)</a:t>
            </a:r>
          </a:p>
          <a:p>
            <a:r>
              <a:rPr lang="en-IN" sz="1100" b="1">
                <a:solidFill>
                  <a:srgbClr val="24241E"/>
                </a:solidFill>
                <a:latin typeface="Georgia" panose="02040502050405020303" pitchFamily="18" charset="0"/>
              </a:rPr>
              <a:t>Entailment / neutral / contradiction</a:t>
            </a:r>
          </a:p>
          <a:p>
            <a:r>
              <a:rPr lang="en-IN" sz="1100" b="1">
                <a:solidFill>
                  <a:srgbClr val="24241E"/>
                </a:solidFill>
                <a:latin typeface="Georgia" panose="02040502050405020303" pitchFamily="18" charset="0"/>
              </a:rPr>
              <a:t>Lazy loaded; runs on CPU or CUDA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3A62753-C83E-5815-3B7E-37301182EE6E}"/>
              </a:ext>
            </a:extLst>
          </p:cNvPr>
          <p:cNvSpPr/>
          <p:nvPr/>
        </p:nvSpPr>
        <p:spPr>
          <a:xfrm>
            <a:off x="8122558" y="2558133"/>
            <a:ext cx="3403600" cy="1651000"/>
          </a:xfrm>
          <a:prstGeom prst="roundRect">
            <a:avLst/>
          </a:prstGeom>
          <a:solidFill>
            <a:srgbClr val="E5EBDD"/>
          </a:solidFill>
          <a:ln w="15240">
            <a:solidFill>
              <a:srgbClr val="8D9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>
            <a:noAutofit/>
          </a:bodyPr>
          <a:lstStyle/>
          <a:p>
            <a:r>
              <a:rPr lang="en-IN" sz="1000" b="1">
                <a:solidFill>
                  <a:srgbClr val="24241E"/>
                </a:solidFill>
                <a:latin typeface="Georgia" panose="02040502050405020303" pitchFamily="18" charset="0"/>
              </a:rPr>
              <a:t>APPROACH C  |  atomic</a:t>
            </a:r>
          </a:p>
          <a:p>
            <a:r>
              <a:rPr lang="en-IN" sz="1000" b="1">
                <a:solidFill>
                  <a:srgbClr val="24241E"/>
                </a:solidFill>
                <a:latin typeface="Georgia" panose="02040502050405020303" pitchFamily="18" charset="0"/>
              </a:rPr>
              <a:t>spaCy clause decomposition - atomic claims</a:t>
            </a:r>
          </a:p>
          <a:p>
            <a:r>
              <a:rPr lang="en-IN" sz="1000" b="1">
                <a:solidFill>
                  <a:srgbClr val="24241E"/>
                </a:solidFill>
                <a:latin typeface="Georgia" panose="02040502050405020303" pitchFamily="18" charset="0"/>
              </a:rPr>
              <a:t>Full chunks + 2-sentence focal windows</a:t>
            </a:r>
          </a:p>
          <a:p>
            <a:r>
              <a:rPr lang="en-IN" sz="1000" b="1">
                <a:solidFill>
                  <a:srgbClr val="24241E"/>
                </a:solidFill>
                <a:latin typeface="Georgia" panose="02040502050405020303" pitchFamily="18" charset="0"/>
              </a:rPr>
              <a:t>NLI entailment + entity / number guard</a:t>
            </a:r>
          </a:p>
          <a:p>
            <a:r>
              <a:rPr lang="en-IN" sz="1000" b="1">
                <a:solidFill>
                  <a:srgbClr val="24241E"/>
                </a:solidFill>
                <a:latin typeface="Georgia" panose="02040502050405020303" pitchFamily="18" charset="0"/>
              </a:rPr>
              <a:t>Lexical overlap fallback when NLI absent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9433F69-A5F8-722A-91DA-F5FF5C8C7333}"/>
              </a:ext>
            </a:extLst>
          </p:cNvPr>
          <p:cNvCxnSpPr/>
          <p:nvPr/>
        </p:nvCxnSpPr>
        <p:spPr>
          <a:xfrm flipH="1">
            <a:off x="2432958" y="2202533"/>
            <a:ext cx="7302500" cy="342900"/>
          </a:xfrm>
          <a:prstGeom prst="straightConnector1">
            <a:avLst/>
          </a:prstGeom>
          <a:ln w="19050">
            <a:solidFill>
              <a:srgbClr val="59682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819E8AC-3158-A6D4-F067-F179A03B4E98}"/>
              </a:ext>
            </a:extLst>
          </p:cNvPr>
          <p:cNvCxnSpPr/>
          <p:nvPr/>
        </p:nvCxnSpPr>
        <p:spPr>
          <a:xfrm flipH="1">
            <a:off x="6128658" y="2202533"/>
            <a:ext cx="3606800" cy="342900"/>
          </a:xfrm>
          <a:prstGeom prst="straightConnector1">
            <a:avLst/>
          </a:prstGeom>
          <a:ln w="19050">
            <a:solidFill>
              <a:srgbClr val="59682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D8BBCFD-8AA8-7BD1-0114-75D797D530E2}"/>
              </a:ext>
            </a:extLst>
          </p:cNvPr>
          <p:cNvCxnSpPr/>
          <p:nvPr/>
        </p:nvCxnSpPr>
        <p:spPr>
          <a:xfrm>
            <a:off x="9735458" y="2202533"/>
            <a:ext cx="88900" cy="342900"/>
          </a:xfrm>
          <a:prstGeom prst="straightConnector1">
            <a:avLst/>
          </a:prstGeom>
          <a:ln w="19050">
            <a:solidFill>
              <a:srgbClr val="59682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5BDDC38-BBDF-D167-6B03-686647AA59F8}"/>
              </a:ext>
            </a:extLst>
          </p:cNvPr>
          <p:cNvSpPr txBox="1"/>
          <p:nvPr/>
        </p:nvSpPr>
        <p:spPr>
          <a:xfrm>
            <a:off x="769258" y="4374233"/>
            <a:ext cx="10718800" cy="2540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ctr">
            <a:noAutofit/>
          </a:bodyPr>
          <a:lstStyle/>
          <a:p>
            <a:r>
              <a:rPr lang="en-IN" sz="1200" b="1">
                <a:solidFill>
                  <a:srgbClr val="596820"/>
                </a:solidFill>
                <a:latin typeface="Georgia" panose="02040502050405020303" pitchFamily="18" charset="0"/>
              </a:rPr>
              <a:t>COMBINED MODES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88EDC29-DA3D-9F09-8C38-DE43977C79BD}"/>
              </a:ext>
            </a:extLst>
          </p:cNvPr>
          <p:cNvSpPr/>
          <p:nvPr/>
        </p:nvSpPr>
        <p:spPr>
          <a:xfrm>
            <a:off x="820058" y="4679033"/>
            <a:ext cx="3213100" cy="609600"/>
          </a:xfrm>
          <a:prstGeom prst="roundRect">
            <a:avLst/>
          </a:prstGeom>
          <a:solidFill>
            <a:srgbClr val="F6F2E6"/>
          </a:solidFill>
          <a:ln w="15240">
            <a:solidFill>
              <a:srgbClr val="8D9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>
            <a:noAutofit/>
          </a:bodyPr>
          <a:lstStyle/>
          <a:p>
            <a:r>
              <a:rPr lang="en-IN" sz="1000" b="1">
                <a:solidFill>
                  <a:srgbClr val="24241E"/>
                </a:solidFill>
                <a:latin typeface="Georgia" panose="02040502050405020303" pitchFamily="18" charset="0"/>
              </a:rPr>
              <a:t>ensemble = A + B</a:t>
            </a:r>
          </a:p>
          <a:p>
            <a:r>
              <a:rPr lang="en-IN" sz="1000" b="1">
                <a:solidFill>
                  <a:srgbClr val="24241E"/>
                </a:solidFill>
                <a:latin typeface="Georgia" panose="02040502050405020303" pitchFamily="18" charset="0"/>
              </a:rPr>
              <a:t>ScoreAggregator combines overlays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E321B6A-DF6A-612D-F755-F1334A42B53A}"/>
              </a:ext>
            </a:extLst>
          </p:cNvPr>
          <p:cNvSpPr/>
          <p:nvPr/>
        </p:nvSpPr>
        <p:spPr>
          <a:xfrm>
            <a:off x="4515758" y="4679033"/>
            <a:ext cx="3213100" cy="609600"/>
          </a:xfrm>
          <a:prstGeom prst="roundRect">
            <a:avLst/>
          </a:prstGeom>
          <a:solidFill>
            <a:srgbClr val="F6F2E6"/>
          </a:solidFill>
          <a:ln w="15240">
            <a:solidFill>
              <a:srgbClr val="8D9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>
            <a:noAutofit/>
          </a:bodyPr>
          <a:lstStyle/>
          <a:p>
            <a:r>
              <a:rPr lang="en-IN" sz="1000" b="1">
                <a:solidFill>
                  <a:srgbClr val="24241E"/>
                </a:solidFill>
                <a:latin typeface="Georgia" panose="02040502050405020303" pitchFamily="18" charset="0"/>
              </a:rPr>
              <a:t>hybrid / sota = B + C</a:t>
            </a:r>
          </a:p>
          <a:p>
            <a:r>
              <a:rPr lang="en-IN" sz="1000" b="1">
                <a:solidFill>
                  <a:srgbClr val="24241E"/>
                </a:solidFill>
                <a:latin typeface="Georgia" panose="02040502050405020303" pitchFamily="18" charset="0"/>
              </a:rPr>
              <a:t>NLI + atomic + entity guard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0D201BE-F973-A941-1E2B-DFE8F9B594F0}"/>
              </a:ext>
            </a:extLst>
          </p:cNvPr>
          <p:cNvSpPr/>
          <p:nvPr/>
        </p:nvSpPr>
        <p:spPr>
          <a:xfrm>
            <a:off x="8211458" y="4679033"/>
            <a:ext cx="3213100" cy="609600"/>
          </a:xfrm>
          <a:prstGeom prst="roundRect">
            <a:avLst/>
          </a:prstGeom>
          <a:solidFill>
            <a:srgbClr val="F2E9D8"/>
          </a:solidFill>
          <a:ln w="15240">
            <a:solidFill>
              <a:srgbClr val="AE8B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>
            <a:noAutofit/>
          </a:bodyPr>
          <a:lstStyle/>
          <a:p>
            <a:r>
              <a:rPr lang="en-US" sz="1000" b="1">
                <a:solidFill>
                  <a:srgbClr val="493B27"/>
                </a:solidFill>
                <a:latin typeface="Georgia" panose="02040502050405020303" pitchFamily="18" charset="0"/>
              </a:rPr>
              <a:t>No standalone model in hybrid</a:t>
            </a:r>
          </a:p>
          <a:p>
            <a:r>
              <a:rPr lang="en-US" sz="1000" b="1">
                <a:solidFill>
                  <a:srgbClr val="493B27"/>
                </a:solidFill>
                <a:latin typeface="Georgia" panose="02040502050405020303" pitchFamily="18" charset="0"/>
              </a:rPr>
              <a:t>C reuses NLI when available</a:t>
            </a:r>
            <a:endParaRPr lang="en-IN" sz="1000" b="1">
              <a:solidFill>
                <a:srgbClr val="493B27"/>
              </a:solidFill>
              <a:latin typeface="Georgia" panose="02040502050405020303" pitchFamily="18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22B7D69-FA0D-374E-3D99-415F613D3AE5}"/>
              </a:ext>
            </a:extLst>
          </p:cNvPr>
          <p:cNvCxnSpPr/>
          <p:nvPr/>
        </p:nvCxnSpPr>
        <p:spPr>
          <a:xfrm>
            <a:off x="2432958" y="4221833"/>
            <a:ext cx="0" cy="444500"/>
          </a:xfrm>
          <a:prstGeom prst="straightConnector1">
            <a:avLst/>
          </a:prstGeom>
          <a:ln w="19050">
            <a:solidFill>
              <a:srgbClr val="59682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19E0405-FF84-3B93-EE44-0D90199B5BBF}"/>
              </a:ext>
            </a:extLst>
          </p:cNvPr>
          <p:cNvCxnSpPr/>
          <p:nvPr/>
        </p:nvCxnSpPr>
        <p:spPr>
          <a:xfrm>
            <a:off x="6128658" y="4221833"/>
            <a:ext cx="0" cy="444500"/>
          </a:xfrm>
          <a:prstGeom prst="straightConnector1">
            <a:avLst/>
          </a:prstGeom>
          <a:ln w="19050">
            <a:solidFill>
              <a:srgbClr val="59682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18CC52D-178E-68CB-07C3-8661E608DE7E}"/>
              </a:ext>
            </a:extLst>
          </p:cNvPr>
          <p:cNvCxnSpPr/>
          <p:nvPr/>
        </p:nvCxnSpPr>
        <p:spPr>
          <a:xfrm flipH="1">
            <a:off x="6128658" y="4221833"/>
            <a:ext cx="3695700" cy="444500"/>
          </a:xfrm>
          <a:prstGeom prst="straightConnector1">
            <a:avLst/>
          </a:prstGeom>
          <a:ln w="19050">
            <a:solidFill>
              <a:srgbClr val="59682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A61C4A4-E9E6-811F-6046-87A82D1D478C}"/>
              </a:ext>
            </a:extLst>
          </p:cNvPr>
          <p:cNvCxnSpPr/>
          <p:nvPr/>
        </p:nvCxnSpPr>
        <p:spPr>
          <a:xfrm>
            <a:off x="4033158" y="4983833"/>
            <a:ext cx="1346200" cy="0"/>
          </a:xfrm>
          <a:prstGeom prst="straightConnector1">
            <a:avLst/>
          </a:prstGeom>
          <a:ln w="19050">
            <a:solidFill>
              <a:srgbClr val="6675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B064C06-F302-A321-6B7C-0E6D36DBE59E}"/>
              </a:ext>
            </a:extLst>
          </p:cNvPr>
          <p:cNvCxnSpPr/>
          <p:nvPr/>
        </p:nvCxnSpPr>
        <p:spPr>
          <a:xfrm>
            <a:off x="7728858" y="4983833"/>
            <a:ext cx="762000" cy="0"/>
          </a:xfrm>
          <a:prstGeom prst="straightConnector1">
            <a:avLst/>
          </a:prstGeom>
          <a:ln w="19050">
            <a:solidFill>
              <a:srgbClr val="6675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36E967D-3E0A-D648-64B2-BEBEFA64B3CC}"/>
              </a:ext>
            </a:extLst>
          </p:cNvPr>
          <p:cNvSpPr/>
          <p:nvPr/>
        </p:nvSpPr>
        <p:spPr>
          <a:xfrm>
            <a:off x="3410858" y="5517233"/>
            <a:ext cx="5435600" cy="584200"/>
          </a:xfrm>
          <a:prstGeom prst="roundRect">
            <a:avLst/>
          </a:prstGeom>
          <a:solidFill>
            <a:srgbClr val="DDE5C9"/>
          </a:solidFill>
          <a:ln w="15240">
            <a:solidFill>
              <a:srgbClr val="7483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>
            <a:noAutofit/>
          </a:bodyPr>
          <a:lstStyle/>
          <a:p>
            <a:r>
              <a:rPr lang="en-IN" sz="1000" b="1">
                <a:solidFill>
                  <a:srgbClr val="24241E"/>
                </a:solidFill>
                <a:latin typeface="Georgia" panose="02040502050405020303" pitchFamily="18" charset="0"/>
              </a:rPr>
              <a:t>SentenceOverlay[] - ScoreAggregator - VerificationResult</a:t>
            </a:r>
          </a:p>
          <a:p>
            <a:r>
              <a:rPr lang="en-IN" sz="1000" b="1">
                <a:solidFill>
                  <a:srgbClr val="24241E"/>
                </a:solidFill>
                <a:latin typeface="Georgia" panose="02040502050405020303" pitchFamily="18" charset="0"/>
              </a:rPr>
              <a:t>per-sentence labels, score, cited chunk IDs, excerpt + overall classification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713C9B8-971D-0B5D-D782-071009DC2FD0}"/>
              </a:ext>
            </a:extLst>
          </p:cNvPr>
          <p:cNvCxnSpPr/>
          <p:nvPr/>
        </p:nvCxnSpPr>
        <p:spPr>
          <a:xfrm>
            <a:off x="6128658" y="5301333"/>
            <a:ext cx="0" cy="203200"/>
          </a:xfrm>
          <a:prstGeom prst="straightConnector1">
            <a:avLst/>
          </a:prstGeom>
          <a:ln w="19050">
            <a:solidFill>
              <a:srgbClr val="6675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9884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CE54B2-0863-A055-45AE-39BD7FCC84C5}"/>
              </a:ext>
            </a:extLst>
          </p:cNvPr>
          <p:cNvSpPr txBox="1"/>
          <p:nvPr/>
        </p:nvSpPr>
        <p:spPr>
          <a:xfrm>
            <a:off x="1000125" y="685800"/>
            <a:ext cx="10191750" cy="7143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algn="ctr"/>
            <a:r>
              <a:rPr lang="en-IN" sz="3300">
                <a:solidFill>
                  <a:srgbClr val="252525"/>
                </a:solidFill>
                <a:latin typeface="Times New Roman" panose="02020603050405020304" pitchFamily="18" charset="0"/>
              </a:rPr>
              <a:t>Module-Level Design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F54E4E9-B45A-806C-E213-049CB807F9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219664"/>
              </p:ext>
            </p:extLst>
          </p:nvPr>
        </p:nvGraphicFramePr>
        <p:xfrm>
          <a:off x="1047750" y="1685925"/>
          <a:ext cx="10096500" cy="4000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6500">
                  <a:extLst>
                    <a:ext uri="{9D8B030D-6E8A-4147-A177-3AD203B41FA5}">
                      <a16:colId xmlns:a16="http://schemas.microsoft.com/office/drawing/2014/main" val="2046475043"/>
                    </a:ext>
                  </a:extLst>
                </a:gridCol>
                <a:gridCol w="5000625">
                  <a:extLst>
                    <a:ext uri="{9D8B030D-6E8A-4147-A177-3AD203B41FA5}">
                      <a16:colId xmlns:a16="http://schemas.microsoft.com/office/drawing/2014/main" val="1725802792"/>
                    </a:ext>
                  </a:extLst>
                </a:gridCol>
                <a:gridCol w="2619375">
                  <a:extLst>
                    <a:ext uri="{9D8B030D-6E8A-4147-A177-3AD203B41FA5}">
                      <a16:colId xmlns:a16="http://schemas.microsoft.com/office/drawing/2014/main" val="2243149930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875" b="1" i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Module</a:t>
                      </a:r>
                    </a:p>
                  </a:txBody>
                  <a:tcPr>
                    <a:lnL w="7620" cmpd="sng">
                      <a:solidFill>
                        <a:srgbClr val="FFFFFF"/>
                      </a:solidFill>
                    </a:lnL>
                    <a:lnR w="7620" cmpd="sng">
                      <a:solidFill>
                        <a:srgbClr val="FFFFFF"/>
                      </a:solidFill>
                    </a:lnR>
                    <a:lnT w="7620" cmpd="sng">
                      <a:solidFill>
                        <a:srgbClr val="FFFFFF"/>
                      </a:solidFill>
                    </a:lnT>
                    <a:lnB w="7620" cmpd="sng">
                      <a:solidFill>
                        <a:srgbClr val="FFFFFF"/>
                      </a:solidFill>
                    </a:lnB>
                    <a:solidFill>
                      <a:srgbClr val="879D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875" b="1" i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Responsibility</a:t>
                      </a:r>
                    </a:p>
                  </a:txBody>
                  <a:tcPr>
                    <a:lnL w="7620" cmpd="sng">
                      <a:solidFill>
                        <a:srgbClr val="FFFFFF"/>
                      </a:solidFill>
                    </a:lnL>
                    <a:lnR w="7620" cmpd="sng">
                      <a:solidFill>
                        <a:srgbClr val="FFFFFF"/>
                      </a:solidFill>
                    </a:lnR>
                    <a:lnT w="7620" cmpd="sng">
                      <a:solidFill>
                        <a:srgbClr val="FFFFFF"/>
                      </a:solidFill>
                    </a:lnT>
                    <a:lnB w="7620" cmpd="sng">
                      <a:solidFill>
                        <a:srgbClr val="FFFFFF"/>
                      </a:solidFill>
                    </a:lnB>
                    <a:solidFill>
                      <a:srgbClr val="879D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875" b="1" i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Output</a:t>
                      </a:r>
                    </a:p>
                  </a:txBody>
                  <a:tcPr>
                    <a:lnL w="7620" cmpd="sng">
                      <a:solidFill>
                        <a:srgbClr val="FFFFFF"/>
                      </a:solidFill>
                    </a:lnL>
                    <a:lnR w="7620" cmpd="sng">
                      <a:solidFill>
                        <a:srgbClr val="FFFFFF"/>
                      </a:solidFill>
                    </a:lnR>
                    <a:lnT w="7620" cmpd="sng">
                      <a:solidFill>
                        <a:srgbClr val="FFFFFF"/>
                      </a:solidFill>
                    </a:lnT>
                    <a:lnB w="7620" cmpd="sng">
                      <a:solidFill>
                        <a:srgbClr val="FFFFFF"/>
                      </a:solidFill>
                    </a:lnB>
                    <a:solidFill>
                      <a:srgbClr val="879D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381245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875" b="0" i="0">
                          <a:solidFill>
                            <a:srgbClr val="252525"/>
                          </a:solidFill>
                          <a:latin typeface="Times New Roman" panose="02020603050405020304" pitchFamily="18" charset="0"/>
                        </a:rPr>
                        <a:t>1. Document processing</a:t>
                      </a:r>
                    </a:p>
                  </a:txBody>
                  <a:tcPr>
                    <a:lnL w="7620" cmpd="sng">
                      <a:solidFill>
                        <a:srgbClr val="FFFFFF"/>
                      </a:solidFill>
                    </a:lnL>
                    <a:lnR w="7620" cmpd="sng">
                      <a:solidFill>
                        <a:srgbClr val="FFFFFF"/>
                      </a:solidFill>
                    </a:lnR>
                    <a:lnT w="7620" cmpd="sng">
                      <a:solidFill>
                        <a:srgbClr val="FFFFFF"/>
                      </a:solidFill>
                    </a:lnT>
                    <a:lnB w="7620" cmpd="sng">
                      <a:solidFill>
                        <a:srgbClr val="FFFFFF"/>
                      </a:solidFill>
                    </a:lnB>
                    <a:solidFill>
                      <a:srgbClr val="D8DDC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875" b="0" i="0">
                          <a:solidFill>
                            <a:srgbClr val="252525"/>
                          </a:solidFill>
                          <a:latin typeface="Times New Roman" panose="02020603050405020304" pitchFamily="18" charset="0"/>
                        </a:rPr>
                        <a:t>Extract text, clean spaces and form overlapping chunks</a:t>
                      </a:r>
                      <a:endParaRPr lang="en-IN" sz="1875" b="0" i="0">
                        <a:solidFill>
                          <a:srgbClr val="252525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7620" cmpd="sng">
                      <a:solidFill>
                        <a:srgbClr val="FFFFFF"/>
                      </a:solidFill>
                    </a:lnL>
                    <a:lnR w="7620" cmpd="sng">
                      <a:solidFill>
                        <a:srgbClr val="FFFFFF"/>
                      </a:solidFill>
                    </a:lnR>
                    <a:lnT w="7620" cmpd="sng">
                      <a:solidFill>
                        <a:srgbClr val="FFFFFF"/>
                      </a:solidFill>
                    </a:lnT>
                    <a:lnB w="7620" cmpd="sng">
                      <a:solidFill>
                        <a:srgbClr val="FFFFFF"/>
                      </a:solidFill>
                    </a:lnB>
                    <a:solidFill>
                      <a:srgbClr val="D8DDC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875" b="0" i="0">
                          <a:solidFill>
                            <a:srgbClr val="252525"/>
                          </a:solidFill>
                          <a:latin typeface="Times New Roman" panose="02020603050405020304" pitchFamily="18" charset="0"/>
                        </a:rPr>
                        <a:t>List of text chunks</a:t>
                      </a:r>
                    </a:p>
                  </a:txBody>
                  <a:tcPr>
                    <a:lnL w="7620" cmpd="sng">
                      <a:solidFill>
                        <a:srgbClr val="FFFFFF"/>
                      </a:solidFill>
                    </a:lnL>
                    <a:lnR w="7620" cmpd="sng">
                      <a:solidFill>
                        <a:srgbClr val="FFFFFF"/>
                      </a:solidFill>
                    </a:lnR>
                    <a:lnT w="7620" cmpd="sng">
                      <a:solidFill>
                        <a:srgbClr val="FFFFFF"/>
                      </a:solidFill>
                    </a:lnT>
                    <a:lnB w="7620" cmpd="sng">
                      <a:solidFill>
                        <a:srgbClr val="FFFFFF"/>
                      </a:solidFill>
                    </a:lnB>
                    <a:solidFill>
                      <a:srgbClr val="D8DD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288085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875" b="0" i="0">
                          <a:solidFill>
                            <a:srgbClr val="252525"/>
                          </a:solidFill>
                          <a:latin typeface="Times New Roman" panose="02020603050405020304" pitchFamily="18" charset="0"/>
                        </a:rPr>
                        <a:t>2. Semantic indexing</a:t>
                      </a:r>
                    </a:p>
                  </a:txBody>
                  <a:tcPr>
                    <a:lnL w="7620" cmpd="sng">
                      <a:solidFill>
                        <a:srgbClr val="FFFFFF"/>
                      </a:solidFill>
                    </a:lnL>
                    <a:lnR w="7620" cmpd="sng">
                      <a:solidFill>
                        <a:srgbClr val="FFFFFF"/>
                      </a:solidFill>
                    </a:lnR>
                    <a:lnT w="7620" cmpd="sng">
                      <a:solidFill>
                        <a:srgbClr val="FFFFFF"/>
                      </a:solidFill>
                    </a:lnT>
                    <a:lnB w="7620" cmpd="sng">
                      <a:solidFill>
                        <a:srgbClr val="FFFFFF"/>
                      </a:solidFill>
                    </a:lnB>
                    <a:solidFill>
                      <a:srgbClr val="EB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875" b="0" i="0">
                          <a:solidFill>
                            <a:srgbClr val="252525"/>
                          </a:solidFill>
                          <a:latin typeface="Times New Roman" panose="02020603050405020304" pitchFamily="18" charset="0"/>
                        </a:rPr>
                        <a:t>Encode document chunks with MiniLM</a:t>
                      </a:r>
                    </a:p>
                  </a:txBody>
                  <a:tcPr>
                    <a:lnL w="7620" cmpd="sng">
                      <a:solidFill>
                        <a:srgbClr val="FFFFFF"/>
                      </a:solidFill>
                    </a:lnL>
                    <a:lnR w="7620" cmpd="sng">
                      <a:solidFill>
                        <a:srgbClr val="FFFFFF"/>
                      </a:solidFill>
                    </a:lnR>
                    <a:lnT w="7620" cmpd="sng">
                      <a:solidFill>
                        <a:srgbClr val="FFFFFF"/>
                      </a:solidFill>
                    </a:lnT>
                    <a:lnB w="7620" cmpd="sng">
                      <a:solidFill>
                        <a:srgbClr val="FFFFFF"/>
                      </a:solidFill>
                    </a:lnB>
                    <a:solidFill>
                      <a:srgbClr val="EB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875" b="0" i="0">
                          <a:solidFill>
                            <a:srgbClr val="252525"/>
                          </a:solidFill>
                          <a:latin typeface="Times New Roman" panose="02020603050405020304" pitchFamily="18" charset="0"/>
                        </a:rPr>
                        <a:t>In-memory embedding index</a:t>
                      </a:r>
                    </a:p>
                  </a:txBody>
                  <a:tcPr>
                    <a:lnL w="7620" cmpd="sng">
                      <a:solidFill>
                        <a:srgbClr val="FFFFFF"/>
                      </a:solidFill>
                    </a:lnL>
                    <a:lnR w="7620" cmpd="sng">
                      <a:solidFill>
                        <a:srgbClr val="FFFFFF"/>
                      </a:solidFill>
                    </a:lnR>
                    <a:lnT w="7620" cmpd="sng">
                      <a:solidFill>
                        <a:srgbClr val="FFFFFF"/>
                      </a:solidFill>
                    </a:lnT>
                    <a:lnB w="7620" cmpd="sng">
                      <a:solidFill>
                        <a:srgbClr val="FFFFFF"/>
                      </a:solidFill>
                    </a:lnB>
                    <a:solidFill>
                      <a:srgbClr val="EB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054101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875" b="0" i="0">
                          <a:solidFill>
                            <a:srgbClr val="252525"/>
                          </a:solidFill>
                          <a:latin typeface="Times New Roman" panose="02020603050405020304" pitchFamily="18" charset="0"/>
                        </a:rPr>
                        <a:t>3. Retrieval and answer</a:t>
                      </a:r>
                    </a:p>
                  </a:txBody>
                  <a:tcPr>
                    <a:lnL w="7620" cmpd="sng">
                      <a:solidFill>
                        <a:srgbClr val="FFFFFF"/>
                      </a:solidFill>
                    </a:lnL>
                    <a:lnR w="7620" cmpd="sng">
                      <a:solidFill>
                        <a:srgbClr val="FFFFFF"/>
                      </a:solidFill>
                    </a:lnR>
                    <a:lnT w="7620" cmpd="sng">
                      <a:solidFill>
                        <a:srgbClr val="FFFFFF"/>
                      </a:solidFill>
                    </a:lnT>
                    <a:lnB w="7620" cmpd="sng">
                      <a:solidFill>
                        <a:srgbClr val="FFFFFF"/>
                      </a:solidFill>
                    </a:lnB>
                    <a:solidFill>
                      <a:srgbClr val="D8DDC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875" b="0" i="0">
                          <a:solidFill>
                            <a:srgbClr val="252525"/>
                          </a:solidFill>
                          <a:latin typeface="Times New Roman" panose="02020603050405020304" pitchFamily="18" charset="0"/>
                        </a:rPr>
                        <a:t>Rank chunks for a question and select answer sentences</a:t>
                      </a:r>
                      <a:endParaRPr lang="en-IN" sz="1875" b="0" i="0">
                        <a:solidFill>
                          <a:srgbClr val="252525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7620" cmpd="sng">
                      <a:solidFill>
                        <a:srgbClr val="FFFFFF"/>
                      </a:solidFill>
                    </a:lnL>
                    <a:lnR w="7620" cmpd="sng">
                      <a:solidFill>
                        <a:srgbClr val="FFFFFF"/>
                      </a:solidFill>
                    </a:lnR>
                    <a:lnT w="7620" cmpd="sng">
                      <a:solidFill>
                        <a:srgbClr val="FFFFFF"/>
                      </a:solidFill>
                    </a:lnT>
                    <a:lnB w="7620" cmpd="sng">
                      <a:solidFill>
                        <a:srgbClr val="FFFFFF"/>
                      </a:solidFill>
                    </a:lnB>
                    <a:solidFill>
                      <a:srgbClr val="D8DDC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875" b="0" i="0">
                          <a:solidFill>
                            <a:srgbClr val="252525"/>
                          </a:solidFill>
                          <a:latin typeface="Times New Roman" panose="02020603050405020304" pitchFamily="18" charset="0"/>
                        </a:rPr>
                        <a:t>Answer and evidence chunks</a:t>
                      </a:r>
                    </a:p>
                  </a:txBody>
                  <a:tcPr>
                    <a:lnL w="7620" cmpd="sng">
                      <a:solidFill>
                        <a:srgbClr val="FFFFFF"/>
                      </a:solidFill>
                    </a:lnL>
                    <a:lnR w="7620" cmpd="sng">
                      <a:solidFill>
                        <a:srgbClr val="FFFFFF"/>
                      </a:solidFill>
                    </a:lnR>
                    <a:lnT w="7620" cmpd="sng">
                      <a:solidFill>
                        <a:srgbClr val="FFFFFF"/>
                      </a:solidFill>
                    </a:lnT>
                    <a:lnB w="7620" cmpd="sng">
                      <a:solidFill>
                        <a:srgbClr val="FFFFFF"/>
                      </a:solidFill>
                    </a:lnB>
                    <a:solidFill>
                      <a:srgbClr val="D8DD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34003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875" b="0" i="0">
                          <a:solidFill>
                            <a:srgbClr val="252525"/>
                          </a:solidFill>
                          <a:latin typeface="Times New Roman" panose="02020603050405020304" pitchFamily="18" charset="0"/>
                        </a:rPr>
                        <a:t>4. Grounding verification</a:t>
                      </a:r>
                    </a:p>
                  </a:txBody>
                  <a:tcPr>
                    <a:lnL w="7620" cmpd="sng">
                      <a:solidFill>
                        <a:srgbClr val="FFFFFF"/>
                      </a:solidFill>
                    </a:lnL>
                    <a:lnR w="7620" cmpd="sng">
                      <a:solidFill>
                        <a:srgbClr val="FFFFFF"/>
                      </a:solidFill>
                    </a:lnR>
                    <a:lnT w="7620" cmpd="sng">
                      <a:solidFill>
                        <a:srgbClr val="FFFFFF"/>
                      </a:solidFill>
                    </a:lnT>
                    <a:lnB w="7620" cmpd="sng">
                      <a:solidFill>
                        <a:srgbClr val="FFFFFF"/>
                      </a:solidFill>
                    </a:lnB>
                    <a:solidFill>
                      <a:srgbClr val="EB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875" b="0" i="0">
                          <a:solidFill>
                            <a:srgbClr val="252525"/>
                          </a:solidFill>
                          <a:latin typeface="Times New Roman" panose="02020603050405020304" pitchFamily="18" charset="0"/>
                        </a:rPr>
                        <a:t>Split the answer and compare sentence/chunk vectors</a:t>
                      </a:r>
                      <a:endParaRPr lang="en-IN" sz="1875" b="0" i="0">
                        <a:solidFill>
                          <a:srgbClr val="252525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7620" cmpd="sng">
                      <a:solidFill>
                        <a:srgbClr val="FFFFFF"/>
                      </a:solidFill>
                    </a:lnL>
                    <a:lnR w="7620" cmpd="sng">
                      <a:solidFill>
                        <a:srgbClr val="FFFFFF"/>
                      </a:solidFill>
                    </a:lnR>
                    <a:lnT w="7620" cmpd="sng">
                      <a:solidFill>
                        <a:srgbClr val="FFFFFF"/>
                      </a:solidFill>
                    </a:lnT>
                    <a:lnB w="7620" cmpd="sng">
                      <a:solidFill>
                        <a:srgbClr val="FFFFFF"/>
                      </a:solidFill>
                    </a:lnB>
                    <a:solidFill>
                      <a:srgbClr val="EB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875" b="0" i="0">
                          <a:solidFill>
                            <a:srgbClr val="252525"/>
                          </a:solidFill>
                          <a:latin typeface="Times New Roman" panose="02020603050405020304" pitchFamily="18" charset="0"/>
                        </a:rPr>
                        <a:t>Sentence scores and labels</a:t>
                      </a:r>
                    </a:p>
                  </a:txBody>
                  <a:tcPr>
                    <a:lnL w="7620" cmpd="sng">
                      <a:solidFill>
                        <a:srgbClr val="FFFFFF"/>
                      </a:solidFill>
                    </a:lnL>
                    <a:lnR w="7620" cmpd="sng">
                      <a:solidFill>
                        <a:srgbClr val="FFFFFF"/>
                      </a:solidFill>
                    </a:lnR>
                    <a:lnT w="7620" cmpd="sng">
                      <a:solidFill>
                        <a:srgbClr val="FFFFFF"/>
                      </a:solidFill>
                    </a:lnT>
                    <a:lnB w="7620" cmpd="sng">
                      <a:solidFill>
                        <a:srgbClr val="FFFFFF"/>
                      </a:solidFill>
                    </a:lnB>
                    <a:solidFill>
                      <a:srgbClr val="EB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772064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875" b="0" i="0">
                          <a:solidFill>
                            <a:srgbClr val="252525"/>
                          </a:solidFill>
                          <a:latin typeface="Times New Roman" panose="02020603050405020304" pitchFamily="18" charset="0"/>
                        </a:rPr>
                        <a:t>5. Result presentation</a:t>
                      </a:r>
                    </a:p>
                  </a:txBody>
                  <a:tcPr>
                    <a:lnL w="7620" cmpd="sng">
                      <a:solidFill>
                        <a:srgbClr val="FFFFFF"/>
                      </a:solidFill>
                    </a:lnL>
                    <a:lnR w="7620" cmpd="sng">
                      <a:solidFill>
                        <a:srgbClr val="FFFFFF"/>
                      </a:solidFill>
                    </a:lnR>
                    <a:lnT w="7620" cmpd="sng">
                      <a:solidFill>
                        <a:srgbClr val="FFFFFF"/>
                      </a:solidFill>
                    </a:lnT>
                    <a:lnB w="7620" cmpd="sng">
                      <a:solidFill>
                        <a:srgbClr val="FFFFFF"/>
                      </a:solidFill>
                    </a:lnB>
                    <a:solidFill>
                      <a:srgbClr val="D8DDC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875" b="0" i="0">
                          <a:solidFill>
                            <a:srgbClr val="252525"/>
                          </a:solidFill>
                          <a:latin typeface="Times New Roman" panose="02020603050405020304" pitchFamily="18" charset="0"/>
                        </a:rPr>
                        <a:t>Build structured results and display evidence</a:t>
                      </a:r>
                      <a:endParaRPr lang="en-IN" sz="1875" b="0" i="0">
                        <a:solidFill>
                          <a:srgbClr val="252525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7620" cmpd="sng">
                      <a:solidFill>
                        <a:srgbClr val="FFFFFF"/>
                      </a:solidFill>
                    </a:lnL>
                    <a:lnR w="7620" cmpd="sng">
                      <a:solidFill>
                        <a:srgbClr val="FFFFFF"/>
                      </a:solidFill>
                    </a:lnR>
                    <a:lnT w="7620" cmpd="sng">
                      <a:solidFill>
                        <a:srgbClr val="FFFFFF"/>
                      </a:solidFill>
                    </a:lnT>
                    <a:lnB w="7620" cmpd="sng">
                      <a:solidFill>
                        <a:srgbClr val="FFFFFF"/>
                      </a:solidFill>
                    </a:lnB>
                    <a:solidFill>
                      <a:srgbClr val="D8DDC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875" b="0" i="0">
                          <a:solidFill>
                            <a:srgbClr val="252525"/>
                          </a:solidFill>
                          <a:latin typeface="Times New Roman" panose="02020603050405020304" pitchFamily="18" charset="0"/>
                        </a:rPr>
                        <a:t>JSON and visual overlays</a:t>
                      </a:r>
                    </a:p>
                  </a:txBody>
                  <a:tcPr>
                    <a:lnL w="7620" cmpd="sng">
                      <a:solidFill>
                        <a:srgbClr val="FFFFFF"/>
                      </a:solidFill>
                    </a:lnL>
                    <a:lnR w="7620" cmpd="sng">
                      <a:solidFill>
                        <a:srgbClr val="FFFFFF"/>
                      </a:solidFill>
                    </a:lnR>
                    <a:lnT w="7620" cmpd="sng">
                      <a:solidFill>
                        <a:srgbClr val="FFFFFF"/>
                      </a:solidFill>
                    </a:lnT>
                    <a:lnB w="7620" cmpd="sng">
                      <a:solidFill>
                        <a:srgbClr val="FFFFFF"/>
                      </a:solidFill>
                    </a:lnB>
                    <a:solidFill>
                      <a:srgbClr val="D8DD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938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9871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0000" y="700000"/>
            <a:ext cx="11192000" cy="700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/>
            <a:r>
              <a:rPr lang="en-US" sz="3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</a:rPr>
              <a:t>Tools, Technologies and Frameworks used</a:t>
            </a:r>
            <a:endParaRPr lang="en-GB" sz="3600" dirty="0">
              <a:solidFill>
                <a:srgbClr val="25252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296000" y="1300000"/>
          <a:ext cx="9600000" cy="35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r>
                        <a:rPr lang="en-GB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 Framework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FastAPI (Python 3.11+)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REST endpoint /api/v1/verify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Sentence Split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spaCy en_core_web_sm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Robust sentence boundary detection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Embedding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all-MiniLM-L6-v2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 384-dim sentence embeddings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NLI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DeBERTa-v3-large-MNLI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Entailment / Neutral / Contradiction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 (Approach 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Llama 3.1 8B via vLLM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Atomic fact extraction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Cache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Redis 7.x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Embedding cache (LRU, 24h TTL)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Container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 + Compose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One-command deployment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Prometheus + Grafana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Latency, throughput metrics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ectangle 6"/>
          <p:cNvSpPr/>
          <p:nvPr/>
        </p:nvSpPr>
        <p:spPr>
          <a:xfrm>
            <a:off x="1296000" y="5080000"/>
            <a:ext cx="9600000" cy="1478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GB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Implementation Status (MVP)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 Splitter, Embedding Model (Approach A), JSON Overlay, FastAPI Endpoint — Complete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Redis Cache, Docker Setup, Unit Tests — In Progress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NLI Cross-Encoder (Approach B) — Planned Week 5  |  Atomic Fact Entailment (Approach C) — Planned Week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33C749-E0DA-AC91-CE01-F6DBDD4EBB15}"/>
              </a:ext>
            </a:extLst>
          </p:cNvPr>
          <p:cNvSpPr txBox="1"/>
          <p:nvPr/>
        </p:nvSpPr>
        <p:spPr>
          <a:xfrm>
            <a:off x="1000125" y="685800"/>
            <a:ext cx="10191750" cy="7143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algn="ctr"/>
            <a:r>
              <a:rPr lang="en-IN" sz="3300">
                <a:solidFill>
                  <a:srgbClr val="252525"/>
                </a:solidFill>
                <a:latin typeface="Times New Roman" panose="02020603050405020304" pitchFamily="18" charset="0"/>
              </a:rPr>
              <a:t>Data Collection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BBC25C-8003-8583-266F-3B43732A0054}"/>
              </a:ext>
            </a:extLst>
          </p:cNvPr>
          <p:cNvSpPr txBox="1"/>
          <p:nvPr/>
        </p:nvSpPr>
        <p:spPr>
          <a:xfrm>
            <a:off x="1000125" y="1400175"/>
            <a:ext cx="1036086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Curated Benchmark Corpus: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Built a targeted evaluation dataset of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 samples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evaluate sentence-level hallucination detection.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Perfect Class Balance: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Balanced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50/50 distribution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with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 Grounded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 Hallucinated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instances.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Benchmark Sources: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Adapted and synthesized from 4 prominent RAG &amp; factuality benchmarks: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RAGTruth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(ACL 2024) &amp; 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FaithBench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(2024)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HaluEval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(EMNLP 2023) &amp; 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FActScore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(EMNLP 2023)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Cross-Domain Diversity: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Covers 12 distinct domains including Biomedicine, Legal, Finance, History, Technology, Climate Science, and Astronomy.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Error Taxonomy: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Tests varied hallucination modes: numerical fabrication, entity replacement, temporal shifts, negation inversion, and extrinsic additions.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Representation: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Stored as structured JSON containing Query, Response, Retrieved Chunks, Ground Truth Label, and Hallucination Type.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0759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384419-5536-E858-7DC5-2D3A2F42C107}"/>
              </a:ext>
            </a:extLst>
          </p:cNvPr>
          <p:cNvSpPr txBox="1"/>
          <p:nvPr/>
        </p:nvSpPr>
        <p:spPr>
          <a:xfrm>
            <a:off x="1000125" y="685800"/>
            <a:ext cx="10191750" cy="7143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algn="ctr"/>
            <a:r>
              <a:rPr lang="en-IN" sz="3300">
                <a:solidFill>
                  <a:srgbClr val="252525"/>
                </a:solidFill>
                <a:latin typeface="Times New Roman" panose="02020603050405020304" pitchFamily="18" charset="0"/>
              </a:rPr>
              <a:t>Data Preprocessing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DE5FFAC-6C28-0B2A-F724-A006824BDE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28068"/>
              </p:ext>
            </p:extLst>
          </p:nvPr>
        </p:nvGraphicFramePr>
        <p:xfrm>
          <a:off x="1047750" y="1733550"/>
          <a:ext cx="100965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00">
                  <a:extLst>
                    <a:ext uri="{9D8B030D-6E8A-4147-A177-3AD203B41FA5}">
                      <a16:colId xmlns:a16="http://schemas.microsoft.com/office/drawing/2014/main" val="2009751286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192897208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2025" b="1" i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Stage</a:t>
                      </a:r>
                    </a:p>
                  </a:txBody>
                  <a:tcPr>
                    <a:lnL w="7620" cmpd="sng">
                      <a:solidFill>
                        <a:srgbClr val="FFFFFF"/>
                      </a:solidFill>
                    </a:lnL>
                    <a:lnR w="7620" cmpd="sng">
                      <a:solidFill>
                        <a:srgbClr val="FFFFFF"/>
                      </a:solidFill>
                    </a:lnR>
                    <a:lnT w="7620" cmpd="sng">
                      <a:solidFill>
                        <a:srgbClr val="FFFFFF"/>
                      </a:solidFill>
                    </a:lnT>
                    <a:lnB w="7620" cmpd="sng">
                      <a:solidFill>
                        <a:srgbClr val="FFFFFF"/>
                      </a:solidFill>
                    </a:lnB>
                    <a:solidFill>
                      <a:srgbClr val="879D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2025" b="1" i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Method</a:t>
                      </a:r>
                    </a:p>
                  </a:txBody>
                  <a:tcPr>
                    <a:lnL w="7620" cmpd="sng">
                      <a:solidFill>
                        <a:srgbClr val="FFFFFF"/>
                      </a:solidFill>
                    </a:lnL>
                    <a:lnR w="7620" cmpd="sng">
                      <a:solidFill>
                        <a:srgbClr val="FFFFFF"/>
                      </a:solidFill>
                    </a:lnR>
                    <a:lnT w="7620" cmpd="sng">
                      <a:solidFill>
                        <a:srgbClr val="FFFFFF"/>
                      </a:solidFill>
                    </a:lnT>
                    <a:lnB w="7620" cmpd="sng">
                      <a:solidFill>
                        <a:srgbClr val="FFFFFF"/>
                      </a:solidFill>
                    </a:lnB>
                    <a:solidFill>
                      <a:srgbClr val="879D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44616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2025" b="0" i="0">
                          <a:solidFill>
                            <a:srgbClr val="252525"/>
                          </a:solidFill>
                          <a:latin typeface="Times New Roman" panose="02020603050405020304" pitchFamily="18" charset="0"/>
                        </a:rPr>
                        <a:t>Text extraction</a:t>
                      </a:r>
                    </a:p>
                  </a:txBody>
                  <a:tcPr>
                    <a:lnL w="7620" cmpd="sng">
                      <a:solidFill>
                        <a:srgbClr val="FFFFFF"/>
                      </a:solidFill>
                    </a:lnL>
                    <a:lnR w="7620" cmpd="sng">
                      <a:solidFill>
                        <a:srgbClr val="FFFFFF"/>
                      </a:solidFill>
                    </a:lnR>
                    <a:lnT w="7620" cmpd="sng">
                      <a:solidFill>
                        <a:srgbClr val="FFFFFF"/>
                      </a:solidFill>
                    </a:lnT>
                    <a:lnB w="7620" cmpd="sng">
                      <a:solidFill>
                        <a:srgbClr val="FFFFFF"/>
                      </a:solidFill>
                    </a:lnB>
                    <a:solidFill>
                      <a:srgbClr val="D8DDC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2025" b="0" i="0">
                          <a:solidFill>
                            <a:srgbClr val="252525"/>
                          </a:solidFill>
                          <a:latin typeface="Times New Roman" panose="02020603050405020304" pitchFamily="18" charset="0"/>
                        </a:rPr>
                        <a:t>Read PDF page text, DOCX paragraphs or UTF-8 text</a:t>
                      </a:r>
                      <a:endParaRPr lang="en-IN" sz="2025" b="0" i="0">
                        <a:solidFill>
                          <a:srgbClr val="252525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7620" cmpd="sng">
                      <a:solidFill>
                        <a:srgbClr val="FFFFFF"/>
                      </a:solidFill>
                    </a:lnL>
                    <a:lnR w="7620" cmpd="sng">
                      <a:solidFill>
                        <a:srgbClr val="FFFFFF"/>
                      </a:solidFill>
                    </a:lnR>
                    <a:lnT w="7620" cmpd="sng">
                      <a:solidFill>
                        <a:srgbClr val="FFFFFF"/>
                      </a:solidFill>
                    </a:lnT>
                    <a:lnB w="7620" cmpd="sng">
                      <a:solidFill>
                        <a:srgbClr val="FFFFFF"/>
                      </a:solidFill>
                    </a:lnB>
                    <a:solidFill>
                      <a:srgbClr val="D8DD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8163849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2025" b="0" i="0">
                          <a:solidFill>
                            <a:srgbClr val="252525"/>
                          </a:solidFill>
                          <a:latin typeface="Times New Roman" panose="02020603050405020304" pitchFamily="18" charset="0"/>
                        </a:rPr>
                        <a:t>Whitespace cleaning</a:t>
                      </a:r>
                    </a:p>
                  </a:txBody>
                  <a:tcPr>
                    <a:lnL w="7620" cmpd="sng">
                      <a:solidFill>
                        <a:srgbClr val="FFFFFF"/>
                      </a:solidFill>
                    </a:lnL>
                    <a:lnR w="7620" cmpd="sng">
                      <a:solidFill>
                        <a:srgbClr val="FFFFFF"/>
                      </a:solidFill>
                    </a:lnR>
                    <a:lnT w="7620" cmpd="sng">
                      <a:solidFill>
                        <a:srgbClr val="FFFFFF"/>
                      </a:solidFill>
                    </a:lnT>
                    <a:lnB w="7620" cmpd="sng">
                      <a:solidFill>
                        <a:srgbClr val="FFFFFF"/>
                      </a:solidFill>
                    </a:lnB>
                    <a:solidFill>
                      <a:srgbClr val="EB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2025" b="0" i="0">
                          <a:solidFill>
                            <a:srgbClr val="252525"/>
                          </a:solidFill>
                          <a:latin typeface="Times New Roman" panose="02020603050405020304" pitchFamily="18" charset="0"/>
                        </a:rPr>
                        <a:t>Replace repeated whitespace with a single space</a:t>
                      </a:r>
                      <a:endParaRPr lang="en-IN" sz="2025" b="0" i="0">
                        <a:solidFill>
                          <a:srgbClr val="252525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7620" cmpd="sng">
                      <a:solidFill>
                        <a:srgbClr val="FFFFFF"/>
                      </a:solidFill>
                    </a:lnL>
                    <a:lnR w="7620" cmpd="sng">
                      <a:solidFill>
                        <a:srgbClr val="FFFFFF"/>
                      </a:solidFill>
                    </a:lnR>
                    <a:lnT w="7620" cmpd="sng">
                      <a:solidFill>
                        <a:srgbClr val="FFFFFF"/>
                      </a:solidFill>
                    </a:lnT>
                    <a:lnB w="7620" cmpd="sng">
                      <a:solidFill>
                        <a:srgbClr val="FFFFFF"/>
                      </a:solidFill>
                    </a:lnB>
                    <a:solidFill>
                      <a:srgbClr val="EB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09818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2025" b="0" i="0">
                          <a:solidFill>
                            <a:srgbClr val="252525"/>
                          </a:solidFill>
                          <a:latin typeface="Times New Roman" panose="02020603050405020304" pitchFamily="18" charset="0"/>
                        </a:rPr>
                        <a:t>Sentence segmentation</a:t>
                      </a:r>
                    </a:p>
                  </a:txBody>
                  <a:tcPr>
                    <a:lnL w="7620" cmpd="sng">
                      <a:solidFill>
                        <a:srgbClr val="FFFFFF"/>
                      </a:solidFill>
                    </a:lnL>
                    <a:lnR w="7620" cmpd="sng">
                      <a:solidFill>
                        <a:srgbClr val="FFFFFF"/>
                      </a:solidFill>
                    </a:lnR>
                    <a:lnT w="7620" cmpd="sng">
                      <a:solidFill>
                        <a:srgbClr val="FFFFFF"/>
                      </a:solidFill>
                    </a:lnT>
                    <a:lnB w="7620" cmpd="sng">
                      <a:solidFill>
                        <a:srgbClr val="FFFFFF"/>
                      </a:solidFill>
                    </a:lnB>
                    <a:solidFill>
                      <a:srgbClr val="D8DDC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2025" b="0" i="0">
                          <a:solidFill>
                            <a:srgbClr val="252525"/>
                          </a:solidFill>
                          <a:latin typeface="Times New Roman" panose="02020603050405020304" pitchFamily="18" charset="0"/>
                        </a:rPr>
                        <a:t>Use spaCy to identify sentence boundaries</a:t>
                      </a:r>
                      <a:endParaRPr lang="en-IN" sz="2025" b="0" i="0">
                        <a:solidFill>
                          <a:srgbClr val="252525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7620" cmpd="sng">
                      <a:solidFill>
                        <a:srgbClr val="FFFFFF"/>
                      </a:solidFill>
                    </a:lnL>
                    <a:lnR w="7620" cmpd="sng">
                      <a:solidFill>
                        <a:srgbClr val="FFFFFF"/>
                      </a:solidFill>
                    </a:lnR>
                    <a:lnT w="7620" cmpd="sng">
                      <a:solidFill>
                        <a:srgbClr val="FFFFFF"/>
                      </a:solidFill>
                    </a:lnT>
                    <a:lnB w="7620" cmpd="sng">
                      <a:solidFill>
                        <a:srgbClr val="FFFFFF"/>
                      </a:solidFill>
                    </a:lnB>
                    <a:solidFill>
                      <a:srgbClr val="D8DD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002757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2025" b="0" i="0">
                          <a:solidFill>
                            <a:srgbClr val="252525"/>
                          </a:solidFill>
                          <a:latin typeface="Times New Roman" panose="02020603050405020304" pitchFamily="18" charset="0"/>
                        </a:rPr>
                        <a:t>Chunk formation</a:t>
                      </a:r>
                    </a:p>
                  </a:txBody>
                  <a:tcPr>
                    <a:lnL w="7620" cmpd="sng">
                      <a:solidFill>
                        <a:srgbClr val="FFFFFF"/>
                      </a:solidFill>
                    </a:lnL>
                    <a:lnR w="7620" cmpd="sng">
                      <a:solidFill>
                        <a:srgbClr val="FFFFFF"/>
                      </a:solidFill>
                    </a:lnR>
                    <a:lnT w="7620" cmpd="sng">
                      <a:solidFill>
                        <a:srgbClr val="FFFFFF"/>
                      </a:solidFill>
                    </a:lnT>
                    <a:lnB w="7620" cmpd="sng">
                      <a:solidFill>
                        <a:srgbClr val="FFFFFF"/>
                      </a:solidFill>
                    </a:lnB>
                    <a:solidFill>
                      <a:srgbClr val="EB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2025" b="0" i="0">
                          <a:solidFill>
                            <a:srgbClr val="252525"/>
                          </a:solidFill>
                          <a:latin typeface="Times New Roman" panose="02020603050405020304" pitchFamily="18" charset="0"/>
                        </a:rPr>
                        <a:t>3 sentences per chunk with a 1-sentence overlap</a:t>
                      </a:r>
                      <a:endParaRPr lang="en-IN" sz="2025" b="0" i="0">
                        <a:solidFill>
                          <a:srgbClr val="252525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7620" cmpd="sng">
                      <a:solidFill>
                        <a:srgbClr val="FFFFFF"/>
                      </a:solidFill>
                    </a:lnL>
                    <a:lnR w="7620" cmpd="sng">
                      <a:solidFill>
                        <a:srgbClr val="FFFFFF"/>
                      </a:solidFill>
                    </a:lnR>
                    <a:lnT w="7620" cmpd="sng">
                      <a:solidFill>
                        <a:srgbClr val="FFFFFF"/>
                      </a:solidFill>
                    </a:lnT>
                    <a:lnB w="7620" cmpd="sng">
                      <a:solidFill>
                        <a:srgbClr val="FFFFFF"/>
                      </a:solidFill>
                    </a:lnB>
                    <a:solidFill>
                      <a:srgbClr val="EB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112129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2025" b="0" i="0">
                          <a:solidFill>
                            <a:srgbClr val="252525"/>
                          </a:solidFill>
                          <a:latin typeface="Times New Roman" panose="02020603050405020304" pitchFamily="18" charset="0"/>
                        </a:rPr>
                        <a:t>Embedding preparation</a:t>
                      </a:r>
                    </a:p>
                  </a:txBody>
                  <a:tcPr>
                    <a:lnL w="7620" cmpd="sng">
                      <a:solidFill>
                        <a:srgbClr val="FFFFFF"/>
                      </a:solidFill>
                    </a:lnL>
                    <a:lnR w="7620" cmpd="sng">
                      <a:solidFill>
                        <a:srgbClr val="FFFFFF"/>
                      </a:solidFill>
                    </a:lnR>
                    <a:lnT w="7620" cmpd="sng">
                      <a:solidFill>
                        <a:srgbClr val="FFFFFF"/>
                      </a:solidFill>
                    </a:lnT>
                    <a:lnB w="7620" cmpd="sng">
                      <a:solidFill>
                        <a:srgbClr val="FFFFFF"/>
                      </a:solidFill>
                    </a:lnB>
                    <a:solidFill>
                      <a:srgbClr val="D8DDC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2025" b="0" i="0">
                          <a:solidFill>
                            <a:srgbClr val="252525"/>
                          </a:solidFill>
                          <a:latin typeface="Times New Roman" panose="02020603050405020304" pitchFamily="18" charset="0"/>
                        </a:rPr>
                        <a:t>Encode chunks and retain their text for evidence lookup</a:t>
                      </a:r>
                      <a:endParaRPr lang="en-IN" sz="2025" b="0" i="0">
                        <a:solidFill>
                          <a:srgbClr val="252525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7620" cmpd="sng">
                      <a:solidFill>
                        <a:srgbClr val="FFFFFF"/>
                      </a:solidFill>
                    </a:lnL>
                    <a:lnR w="7620" cmpd="sng">
                      <a:solidFill>
                        <a:srgbClr val="FFFFFF"/>
                      </a:solidFill>
                    </a:lnR>
                    <a:lnT w="7620" cmpd="sng">
                      <a:solidFill>
                        <a:srgbClr val="FFFFFF"/>
                      </a:solidFill>
                    </a:lnT>
                    <a:lnB w="7620" cmpd="sng">
                      <a:solidFill>
                        <a:srgbClr val="FFFFFF"/>
                      </a:solidFill>
                    </a:lnB>
                    <a:solidFill>
                      <a:srgbClr val="D8DD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30576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8A9C16F-4065-BE8E-6311-D9525ED125C2}"/>
              </a:ext>
            </a:extLst>
          </p:cNvPr>
          <p:cNvSpPr txBox="1"/>
          <p:nvPr/>
        </p:nvSpPr>
        <p:spPr>
          <a:xfrm>
            <a:off x="1333500" y="5381625"/>
            <a:ext cx="9525000" cy="3810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r>
              <a:rPr lang="en-IN" sz="2175" b="1">
                <a:solidFill>
                  <a:srgbClr val="252525"/>
                </a:solidFill>
                <a:latin typeface="Times New Roman" panose="02020603050405020304" pitchFamily="18" charset="0"/>
              </a:rPr>
              <a:t>Overlap 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86C622-4112-7522-E2DD-8F15F71A3CD6}"/>
              </a:ext>
            </a:extLst>
          </p:cNvPr>
          <p:cNvSpPr txBox="1"/>
          <p:nvPr/>
        </p:nvSpPr>
        <p:spPr>
          <a:xfrm>
            <a:off x="1381125" y="5819775"/>
            <a:ext cx="9525000" cy="3810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r>
              <a:rPr lang="pl-PL" sz="2100">
                <a:solidFill>
                  <a:srgbClr val="252525"/>
                </a:solidFill>
                <a:latin typeface="Times New Roman" panose="02020603050405020304" pitchFamily="18" charset="0"/>
              </a:rPr>
              <a:t>Chunk 1: S1, S2, S3       Chunk 2: S3, S4, S5</a:t>
            </a:r>
            <a:endParaRPr lang="en-IN" sz="2100">
              <a:solidFill>
                <a:srgbClr val="252525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0725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D70762-F1EC-6572-3ED8-0FDEDEDCF0D8}"/>
              </a:ext>
            </a:extLst>
          </p:cNvPr>
          <p:cNvSpPr txBox="1"/>
          <p:nvPr/>
        </p:nvSpPr>
        <p:spPr>
          <a:xfrm>
            <a:off x="1000125" y="685800"/>
            <a:ext cx="10191750" cy="7143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algn="ctr"/>
            <a:r>
              <a:rPr lang="en-IN" sz="3300">
                <a:solidFill>
                  <a:srgbClr val="252525"/>
                </a:solidFill>
                <a:latin typeface="Times New Roman" panose="02020603050405020304" pitchFamily="18" charset="0"/>
              </a:rPr>
              <a:t>Module 1: Implementation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659F93-BF02-F059-F463-FE6657D1E69A}"/>
              </a:ext>
            </a:extLst>
          </p:cNvPr>
          <p:cNvSpPr txBox="1"/>
          <p:nvPr/>
        </p:nvSpPr>
        <p:spPr>
          <a:xfrm>
            <a:off x="1333500" y="1628775"/>
            <a:ext cx="9525000" cy="40005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r>
              <a:rPr lang="en-IN" sz="2250" b="1">
                <a:solidFill>
                  <a:srgbClr val="252525"/>
                </a:solidFill>
                <a:latin typeface="Times New Roman" panose="02020603050405020304" pitchFamily="18" charset="0"/>
              </a:rPr>
              <a:t>Document upload and indexing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945EE8-8E3B-5FFD-2487-879D9B395A66}"/>
              </a:ext>
            </a:extLst>
          </p:cNvPr>
          <p:cNvSpPr txBox="1"/>
          <p:nvPr/>
        </p:nvSpPr>
        <p:spPr>
          <a:xfrm>
            <a:off x="1381125" y="2190750"/>
            <a:ext cx="9620250" cy="20574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r>
              <a:rPr lang="en-IN" sz="1950">
                <a:solidFill>
                  <a:srgbClr val="252525"/>
                </a:solidFill>
                <a:latin typeface="Courier New" panose="02070309020205020404" pitchFamily="49" charset="0"/>
              </a:rPr>
              <a:t>text = extract_text(tmp_path)</a:t>
            </a:r>
          </a:p>
          <a:p>
            <a:r>
              <a:rPr lang="en-IN" sz="1950">
                <a:solidFill>
                  <a:srgbClr val="252525"/>
                </a:solidFill>
                <a:latin typeface="Courier New" panose="02070309020205020404" pitchFamily="49" charset="0"/>
              </a:rPr>
              <a:t>if not text.strip():</a:t>
            </a:r>
          </a:p>
          <a:p>
            <a:r>
              <a:rPr lang="en-IN" sz="1950">
                <a:solidFill>
                  <a:srgbClr val="252525"/>
                </a:solidFill>
                <a:latin typeface="Courier New" panose="02070309020205020404" pitchFamily="49" charset="0"/>
              </a:rPr>
              <a:t>    raise HTTPException(status_code=400, ...)</a:t>
            </a:r>
          </a:p>
          <a:p>
            <a:r>
              <a:rPr lang="en-IN" sz="1950">
                <a:solidFill>
                  <a:srgbClr val="252525"/>
                </a:solidFill>
                <a:latin typeface="Courier New" panose="02070309020205020404" pitchFamily="49" charset="0"/>
              </a:rPr>
              <a:t>chunks = chunk_text(text)</a:t>
            </a:r>
          </a:p>
          <a:p>
            <a:r>
              <a:rPr lang="en-IN" sz="1950">
                <a:solidFill>
                  <a:srgbClr val="252525"/>
                </a:solidFill>
                <a:latin typeface="Courier New" panose="02070309020205020404" pitchFamily="49" charset="0"/>
              </a:rPr>
              <a:t>index = DocumentIndex(chunks)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B06867-6082-56E5-2C6D-9BD2095EF28A}"/>
              </a:ext>
            </a:extLst>
          </p:cNvPr>
          <p:cNvSpPr txBox="1"/>
          <p:nvPr/>
        </p:nvSpPr>
        <p:spPr>
          <a:xfrm>
            <a:off x="1333500" y="4171950"/>
            <a:ext cx="9525000" cy="40005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r>
              <a:rPr lang="en-IN" sz="2250" b="1">
                <a:solidFill>
                  <a:srgbClr val="252525"/>
                </a:solidFill>
                <a:latin typeface="Times New Roman" panose="02020603050405020304" pitchFamily="18" charset="0"/>
              </a:rPr>
              <a:t>Implemented behavior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D9B94E-ABDB-B21A-7168-01C071B5D8C8}"/>
              </a:ext>
            </a:extLst>
          </p:cNvPr>
          <p:cNvSpPr txBox="1"/>
          <p:nvPr/>
        </p:nvSpPr>
        <p:spPr>
          <a:xfrm>
            <a:off x="1333500" y="4638675"/>
            <a:ext cx="9525000" cy="14763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228600" indent="-127000">
              <a:spcAft>
                <a:spcPts val="1300"/>
              </a:spcAft>
              <a:buFont typeface="+mj-lt"/>
              <a:buChar char="•"/>
            </a:pPr>
            <a:r>
              <a:rPr lang="en-US" sz="1875">
                <a:solidFill>
                  <a:srgbClr val="252525"/>
                </a:solidFill>
                <a:latin typeface="Times New Roman" panose="02020603050405020304" pitchFamily="18" charset="0"/>
              </a:rPr>
              <a:t>Checks file extensions and rejects empty extracted text.</a:t>
            </a:r>
          </a:p>
          <a:p>
            <a:pPr marL="228600" indent="-127000">
              <a:spcAft>
                <a:spcPts val="1300"/>
              </a:spcAft>
              <a:buFont typeface="+mj-lt"/>
              <a:buChar char="•"/>
            </a:pPr>
            <a:r>
              <a:rPr lang="en-US" sz="1875">
                <a:solidFill>
                  <a:srgbClr val="252525"/>
                </a:solidFill>
                <a:latin typeface="Times New Roman" panose="02020603050405020304" pitchFamily="18" charset="0"/>
              </a:rPr>
              <a:t>Local preprocessing of sample_doc.txt: 19,046 characters and 51 chunks.</a:t>
            </a:r>
          </a:p>
          <a:p>
            <a:pPr marL="228600" indent="-127000">
              <a:spcAft>
                <a:spcPts val="1300"/>
              </a:spcAft>
              <a:buFont typeface="+mj-lt"/>
              <a:buChar char="•"/>
            </a:pPr>
            <a:r>
              <a:rPr lang="en-US" sz="1875">
                <a:solidFill>
                  <a:srgbClr val="252525"/>
                </a:solidFill>
                <a:latin typeface="Times New Roman" panose="02020603050405020304" pitchFamily="18" charset="0"/>
              </a:rPr>
              <a:t>The upload route returns the filename, chunk count and indexed status.</a:t>
            </a:r>
            <a:endParaRPr lang="en-IN" sz="1875">
              <a:solidFill>
                <a:srgbClr val="252525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1886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74223B-C47E-BA0E-9754-E7C4F5D26979}"/>
              </a:ext>
            </a:extLst>
          </p:cNvPr>
          <p:cNvSpPr txBox="1"/>
          <p:nvPr/>
        </p:nvSpPr>
        <p:spPr>
          <a:xfrm>
            <a:off x="1000125" y="685800"/>
            <a:ext cx="10191750" cy="7143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algn="ctr"/>
            <a:r>
              <a:rPr lang="en-IN" sz="3300">
                <a:solidFill>
                  <a:srgbClr val="252525"/>
                </a:solidFill>
                <a:latin typeface="Times New Roman" panose="02020603050405020304" pitchFamily="18" charset="0"/>
              </a:rPr>
              <a:t>Sentence Splitter Implementation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687E86-16F2-E8AC-14E6-4C7182C3534F}"/>
              </a:ext>
            </a:extLst>
          </p:cNvPr>
          <p:cNvSpPr txBox="1"/>
          <p:nvPr/>
        </p:nvSpPr>
        <p:spPr>
          <a:xfrm>
            <a:off x="1333500" y="1666875"/>
            <a:ext cx="9525000" cy="40005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r>
              <a:rPr lang="en-IN" sz="2250" b="1">
                <a:solidFill>
                  <a:srgbClr val="252525"/>
                </a:solidFill>
                <a:latin typeface="Times New Roman" panose="02020603050405020304" pitchFamily="18" charset="0"/>
              </a:rPr>
              <a:t>Processing steps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BCCD3E-97EA-CC44-60A9-A3716BFD5239}"/>
              </a:ext>
            </a:extLst>
          </p:cNvPr>
          <p:cNvSpPr txBox="1"/>
          <p:nvPr/>
        </p:nvSpPr>
        <p:spPr>
          <a:xfrm>
            <a:off x="1333500" y="2133600"/>
            <a:ext cx="9525000" cy="21240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228600" indent="-127000">
              <a:spcAft>
                <a:spcPts val="1300"/>
              </a:spcAft>
              <a:buFont typeface="+mj-lt"/>
              <a:buChar char="•"/>
            </a:pPr>
            <a:r>
              <a:rPr lang="en-US" sz="2100">
                <a:solidFill>
                  <a:srgbClr val="252525"/>
                </a:solidFill>
                <a:latin typeface="Times New Roman" panose="02020603050405020304" pitchFamily="18" charset="0"/>
              </a:rPr>
              <a:t>Normalize line endings and repeated spaces.</a:t>
            </a:r>
          </a:p>
          <a:p>
            <a:pPr marL="228600" indent="-127000">
              <a:spcAft>
                <a:spcPts val="1300"/>
              </a:spcAft>
              <a:buFont typeface="+mj-lt"/>
              <a:buChar char="•"/>
            </a:pPr>
            <a:r>
              <a:rPr lang="en-US" sz="2100">
                <a:solidFill>
                  <a:srgbClr val="252525"/>
                </a:solidFill>
                <a:latin typeface="Times New Roman" panose="02020603050405020304" pitchFamily="18" charset="0"/>
              </a:rPr>
              <a:t>Split the answer into sentences using spaCy.</a:t>
            </a:r>
          </a:p>
          <a:p>
            <a:pPr marL="228600" indent="-127000">
              <a:spcAft>
                <a:spcPts val="1300"/>
              </a:spcAft>
              <a:buFont typeface="+mj-lt"/>
              <a:buChar char="•"/>
            </a:pPr>
            <a:r>
              <a:rPr lang="en-US" sz="2100">
                <a:solidFill>
                  <a:srgbClr val="252525"/>
                </a:solidFill>
                <a:latin typeface="Times New Roman" panose="02020603050405020304" pitchFamily="18" charset="0"/>
              </a:rPr>
              <a:t>Remove leading bullets or numbering and discard trivial fragments.</a:t>
            </a:r>
            <a:endParaRPr lang="en-IN" sz="2100">
              <a:solidFill>
                <a:srgbClr val="252525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74F023-7188-4D42-8C3A-6AF2F906AAC5}"/>
              </a:ext>
            </a:extLst>
          </p:cNvPr>
          <p:cNvSpPr txBox="1"/>
          <p:nvPr/>
        </p:nvSpPr>
        <p:spPr>
          <a:xfrm>
            <a:off x="1333500" y="4524375"/>
            <a:ext cx="9525000" cy="40005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r>
              <a:rPr lang="en-IN" sz="2250" b="1">
                <a:solidFill>
                  <a:srgbClr val="252525"/>
                </a:solidFill>
                <a:latin typeface="Times New Roman" panose="02020603050405020304" pitchFamily="18" charset="0"/>
              </a:rPr>
              <a:t>Illustrative input and output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CB93B2-2C69-F2D6-FB91-1559CAC06246}"/>
              </a:ext>
            </a:extLst>
          </p:cNvPr>
          <p:cNvSpPr txBox="1"/>
          <p:nvPr/>
        </p:nvSpPr>
        <p:spPr>
          <a:xfrm>
            <a:off x="1381125" y="5010150"/>
            <a:ext cx="9429750" cy="5715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r>
              <a:rPr lang="en-US" sz="2025">
                <a:solidFill>
                  <a:srgbClr val="252525"/>
                </a:solidFill>
                <a:latin typeface="Times New Roman" panose="02020603050405020304" pitchFamily="18" charset="0"/>
              </a:rPr>
              <a:t>Input: Paris is the capital of France. It has a population of 2.1 million.</a:t>
            </a:r>
            <a:endParaRPr lang="en-IN" sz="2025">
              <a:solidFill>
                <a:srgbClr val="252525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68017C-640A-D4F0-98CF-1359AB7C6FB8}"/>
              </a:ext>
            </a:extLst>
          </p:cNvPr>
          <p:cNvSpPr txBox="1"/>
          <p:nvPr/>
        </p:nvSpPr>
        <p:spPr>
          <a:xfrm>
            <a:off x="1381125" y="5715000"/>
            <a:ext cx="9429750" cy="4572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r>
              <a:rPr lang="en-US" sz="2025" b="1">
                <a:solidFill>
                  <a:srgbClr val="252525"/>
                </a:solidFill>
                <a:latin typeface="Times New Roman" panose="02020603050405020304" pitchFamily="18" charset="0"/>
              </a:rPr>
              <a:t>Output: 2 sentence strings, ready for embedding and comparison.</a:t>
            </a:r>
            <a:endParaRPr lang="en-IN" sz="2025" b="1">
              <a:solidFill>
                <a:srgbClr val="252525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9042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207AD7-91DF-1A8F-CE1B-AA20707692BB}"/>
              </a:ext>
            </a:extLst>
          </p:cNvPr>
          <p:cNvSpPr txBox="1"/>
          <p:nvPr/>
        </p:nvSpPr>
        <p:spPr>
          <a:xfrm>
            <a:off x="1000125" y="685800"/>
            <a:ext cx="10191750" cy="7143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algn="ctr"/>
            <a:r>
              <a:rPr lang="en-IN" sz="3300">
                <a:solidFill>
                  <a:srgbClr val="252525"/>
                </a:solidFill>
                <a:latin typeface="Times New Roman" panose="02020603050405020304" pitchFamily="18" charset="0"/>
              </a:rPr>
              <a:t>Approach A: Implementation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0ED003-8ADC-2FEE-2164-C8E66160448D}"/>
              </a:ext>
            </a:extLst>
          </p:cNvPr>
          <p:cNvSpPr txBox="1"/>
          <p:nvPr/>
        </p:nvSpPr>
        <p:spPr>
          <a:xfrm>
            <a:off x="1333500" y="1619250"/>
            <a:ext cx="9525000" cy="40005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r>
              <a:rPr lang="en-IN" sz="2250" b="1">
                <a:solidFill>
                  <a:srgbClr val="252525"/>
                </a:solidFill>
                <a:latin typeface="Times New Roman" panose="02020603050405020304" pitchFamily="18" charset="0"/>
              </a:rPr>
              <a:t>Middleware integration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FE54AE-41B9-7B17-E51B-1F758C24F389}"/>
              </a:ext>
            </a:extLst>
          </p:cNvPr>
          <p:cNvSpPr txBox="1"/>
          <p:nvPr/>
        </p:nvSpPr>
        <p:spPr>
          <a:xfrm>
            <a:off x="1381125" y="2105025"/>
            <a:ext cx="9429750" cy="252412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r>
              <a:rPr lang="en-IN" sz="2100">
                <a:solidFill>
                  <a:srgbClr val="252525"/>
                </a:solidFill>
                <a:latin typeface="Courier New" panose="02070309020205020404" pitchFamily="49" charset="0"/>
              </a:rPr>
              <a:t>result = middleware.verify(</a:t>
            </a:r>
          </a:p>
          <a:p>
            <a:r>
              <a:rPr lang="en-IN" sz="2100">
                <a:solidFill>
                  <a:srgbClr val="252525"/>
                </a:solidFill>
                <a:latin typeface="Courier New" panose="02070309020205020404" pitchFamily="49" charset="0"/>
              </a:rPr>
              <a:t>    query=question,</a:t>
            </a:r>
          </a:p>
          <a:p>
            <a:r>
              <a:rPr lang="en-IN" sz="2100">
                <a:solidFill>
                  <a:srgbClr val="252525"/>
                </a:solidFill>
                <a:latin typeface="Courier New" panose="02070309020205020404" pitchFamily="49" charset="0"/>
              </a:rPr>
              <a:t>    response=answer_text,</a:t>
            </a:r>
          </a:p>
          <a:p>
            <a:r>
              <a:rPr lang="en-IN" sz="2100">
                <a:solidFill>
                  <a:srgbClr val="252525"/>
                </a:solidFill>
                <a:latin typeface="Courier New" panose="02070309020205020404" pitchFamily="49" charset="0"/>
              </a:rPr>
              <a:t>    chunks=chunk_objs,</a:t>
            </a:r>
          </a:p>
          <a:p>
            <a:r>
              <a:rPr lang="en-IN" sz="2100">
                <a:solidFill>
                  <a:srgbClr val="252525"/>
                </a:solidFill>
                <a:latin typeface="Courier New" panose="02070309020205020404" pitchFamily="49" charset="0"/>
              </a:rPr>
              <a:t>    mode="embedding"</a:t>
            </a:r>
          </a:p>
          <a:p>
            <a:r>
              <a:rPr lang="en-IN" sz="2100">
                <a:solidFill>
                  <a:srgbClr val="252525"/>
                </a:solidFill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B2884E-731F-B9EF-5D3A-AF8860CE8B57}"/>
              </a:ext>
            </a:extLst>
          </p:cNvPr>
          <p:cNvSpPr txBox="1"/>
          <p:nvPr/>
        </p:nvSpPr>
        <p:spPr>
          <a:xfrm>
            <a:off x="1333500" y="4781550"/>
            <a:ext cx="9525000" cy="14763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228600" indent="-127000">
              <a:spcAft>
                <a:spcPts val="1300"/>
              </a:spcAft>
              <a:buFont typeface="+mj-lt"/>
              <a:buChar char="•"/>
            </a:pPr>
            <a:r>
              <a:rPr lang="en-US" sz="1950">
                <a:solidFill>
                  <a:srgbClr val="252525"/>
                </a:solidFill>
                <a:latin typeface="Times New Roman" panose="02020603050405020304" pitchFamily="18" charset="0"/>
              </a:rPr>
              <a:t>SentenceSplitter prepares the answer sentences.</a:t>
            </a:r>
          </a:p>
          <a:p>
            <a:pPr marL="228600" indent="-127000">
              <a:spcAft>
                <a:spcPts val="1300"/>
              </a:spcAft>
              <a:buFont typeface="+mj-lt"/>
              <a:buChar char="•"/>
            </a:pPr>
            <a:r>
              <a:rPr lang="en-US" sz="1950">
                <a:solidFill>
                  <a:srgbClr val="252525"/>
                </a:solidFill>
                <a:latin typeface="Times New Roman" panose="02020603050405020304" pitchFamily="18" charset="0"/>
              </a:rPr>
              <a:t>EmbeddingVerifier assigns a score and label to each sentence.</a:t>
            </a:r>
          </a:p>
          <a:p>
            <a:pPr marL="228600" indent="-127000">
              <a:spcAft>
                <a:spcPts val="1300"/>
              </a:spcAft>
              <a:buFont typeface="+mj-lt"/>
              <a:buChar char="•"/>
            </a:pPr>
            <a:r>
              <a:rPr lang="en-US" sz="1950">
                <a:solidFill>
                  <a:srgbClr val="252525"/>
                </a:solidFill>
                <a:latin typeface="Times New Roman" panose="02020603050405020304" pitchFamily="18" charset="0"/>
              </a:rPr>
              <a:t>VerificationResult carries sentence overlays and the overall summary.</a:t>
            </a:r>
            <a:endParaRPr lang="en-IN" sz="1950">
              <a:solidFill>
                <a:srgbClr val="252525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081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07754E-98D4-5036-36F7-C13F4C165E3C}"/>
              </a:ext>
            </a:extLst>
          </p:cNvPr>
          <p:cNvSpPr txBox="1"/>
          <p:nvPr/>
        </p:nvSpPr>
        <p:spPr>
          <a:xfrm>
            <a:off x="1000125" y="685800"/>
            <a:ext cx="10191750" cy="7143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algn="ctr"/>
            <a:r>
              <a:rPr lang="en-IN" sz="3300">
                <a:solidFill>
                  <a:srgbClr val="252525"/>
                </a:solidFill>
                <a:latin typeface="Times New Roman" panose="02020603050405020304" pitchFamily="18" charset="0"/>
              </a:rPr>
              <a:t>Module Demonstration Flow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B0F7234-4BC7-89E5-F939-2DACAC02C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625254"/>
              </p:ext>
            </p:extLst>
          </p:nvPr>
        </p:nvGraphicFramePr>
        <p:xfrm>
          <a:off x="1047750" y="1714500"/>
          <a:ext cx="10096500" cy="34766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875">
                  <a:extLst>
                    <a:ext uri="{9D8B030D-6E8A-4147-A177-3AD203B41FA5}">
                      <a16:colId xmlns:a16="http://schemas.microsoft.com/office/drawing/2014/main" val="3645831793"/>
                    </a:ext>
                  </a:extLst>
                </a:gridCol>
                <a:gridCol w="4905375">
                  <a:extLst>
                    <a:ext uri="{9D8B030D-6E8A-4147-A177-3AD203B41FA5}">
                      <a16:colId xmlns:a16="http://schemas.microsoft.com/office/drawing/2014/main" val="711028365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1172714829"/>
                    </a:ext>
                  </a:extLst>
                </a:gridCol>
              </a:tblGrid>
              <a:tr h="57943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950" b="1" i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Step</a:t>
                      </a:r>
                    </a:p>
                  </a:txBody>
                  <a:tcPr>
                    <a:lnL w="7620" cmpd="sng">
                      <a:solidFill>
                        <a:srgbClr val="FFFFFF"/>
                      </a:solidFill>
                    </a:lnL>
                    <a:lnR w="7620" cmpd="sng">
                      <a:solidFill>
                        <a:srgbClr val="FFFFFF"/>
                      </a:solidFill>
                    </a:lnR>
                    <a:lnT w="7620" cmpd="sng">
                      <a:solidFill>
                        <a:srgbClr val="FFFFFF"/>
                      </a:solidFill>
                    </a:lnT>
                    <a:lnB w="7620" cmpd="sng">
                      <a:solidFill>
                        <a:srgbClr val="FFFFFF"/>
                      </a:solidFill>
                    </a:lnB>
                    <a:solidFill>
                      <a:srgbClr val="879D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950" b="1" i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Action</a:t>
                      </a:r>
                    </a:p>
                  </a:txBody>
                  <a:tcPr>
                    <a:lnL w="7620" cmpd="sng">
                      <a:solidFill>
                        <a:srgbClr val="FFFFFF"/>
                      </a:solidFill>
                    </a:lnL>
                    <a:lnR w="7620" cmpd="sng">
                      <a:solidFill>
                        <a:srgbClr val="FFFFFF"/>
                      </a:solidFill>
                    </a:lnR>
                    <a:lnT w="7620" cmpd="sng">
                      <a:solidFill>
                        <a:srgbClr val="FFFFFF"/>
                      </a:solidFill>
                    </a:lnT>
                    <a:lnB w="7620" cmpd="sng">
                      <a:solidFill>
                        <a:srgbClr val="FFFFFF"/>
                      </a:solidFill>
                    </a:lnB>
                    <a:solidFill>
                      <a:srgbClr val="879D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950" b="1" i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Visible result</a:t>
                      </a:r>
                    </a:p>
                  </a:txBody>
                  <a:tcPr>
                    <a:lnL w="7620" cmpd="sng">
                      <a:solidFill>
                        <a:srgbClr val="FFFFFF"/>
                      </a:solidFill>
                    </a:lnL>
                    <a:lnR w="7620" cmpd="sng">
                      <a:solidFill>
                        <a:srgbClr val="FFFFFF"/>
                      </a:solidFill>
                    </a:lnR>
                    <a:lnT w="7620" cmpd="sng">
                      <a:solidFill>
                        <a:srgbClr val="FFFFFF"/>
                      </a:solidFill>
                    </a:lnT>
                    <a:lnB w="7620" cmpd="sng">
                      <a:solidFill>
                        <a:srgbClr val="FFFFFF"/>
                      </a:solidFill>
                    </a:lnB>
                    <a:solidFill>
                      <a:srgbClr val="879D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01523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950" b="0" i="0">
                          <a:solidFill>
                            <a:srgbClr val="252525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7620" cmpd="sng">
                      <a:solidFill>
                        <a:srgbClr val="FFFFFF"/>
                      </a:solidFill>
                    </a:lnL>
                    <a:lnR w="7620" cmpd="sng">
                      <a:solidFill>
                        <a:srgbClr val="FFFFFF"/>
                      </a:solidFill>
                    </a:lnR>
                    <a:lnT w="7620" cmpd="sng">
                      <a:solidFill>
                        <a:srgbClr val="FFFFFF"/>
                      </a:solidFill>
                    </a:lnT>
                    <a:lnB w="7620" cmpd="sng">
                      <a:solidFill>
                        <a:srgbClr val="FFFFFF"/>
                      </a:solidFill>
                    </a:lnB>
                    <a:solidFill>
                      <a:srgbClr val="D8DDC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950" b="0" i="0">
                          <a:solidFill>
                            <a:srgbClr val="252525"/>
                          </a:solidFill>
                          <a:latin typeface="Times New Roman" panose="02020603050405020304" pitchFamily="18" charset="0"/>
                        </a:rPr>
                        <a:t>Upload a supported local document</a:t>
                      </a:r>
                      <a:endParaRPr lang="en-IN" sz="1950" b="0" i="0">
                        <a:solidFill>
                          <a:srgbClr val="252525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7620" cmpd="sng">
                      <a:solidFill>
                        <a:srgbClr val="FFFFFF"/>
                      </a:solidFill>
                    </a:lnL>
                    <a:lnR w="7620" cmpd="sng">
                      <a:solidFill>
                        <a:srgbClr val="FFFFFF"/>
                      </a:solidFill>
                    </a:lnR>
                    <a:lnT w="7620" cmpd="sng">
                      <a:solidFill>
                        <a:srgbClr val="FFFFFF"/>
                      </a:solidFill>
                    </a:lnT>
                    <a:lnB w="7620" cmpd="sng">
                      <a:solidFill>
                        <a:srgbClr val="FFFFFF"/>
                      </a:solidFill>
                    </a:lnB>
                    <a:solidFill>
                      <a:srgbClr val="D8DDC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950" b="0" i="0">
                          <a:solidFill>
                            <a:srgbClr val="252525"/>
                          </a:solidFill>
                          <a:latin typeface="Times New Roman" panose="02020603050405020304" pitchFamily="18" charset="0"/>
                        </a:rPr>
                        <a:t>Filename and chunk count</a:t>
                      </a:r>
                    </a:p>
                  </a:txBody>
                  <a:tcPr>
                    <a:lnL w="7620" cmpd="sng">
                      <a:solidFill>
                        <a:srgbClr val="FFFFFF"/>
                      </a:solidFill>
                    </a:lnL>
                    <a:lnR w="7620" cmpd="sng">
                      <a:solidFill>
                        <a:srgbClr val="FFFFFF"/>
                      </a:solidFill>
                    </a:lnR>
                    <a:lnT w="7620" cmpd="sng">
                      <a:solidFill>
                        <a:srgbClr val="FFFFFF"/>
                      </a:solidFill>
                    </a:lnT>
                    <a:lnB w="7620" cmpd="sng">
                      <a:solidFill>
                        <a:srgbClr val="FFFFFF"/>
                      </a:solidFill>
                    </a:lnB>
                    <a:solidFill>
                      <a:srgbClr val="D8DD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436202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950" b="0" i="0">
                          <a:solidFill>
                            <a:srgbClr val="252525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7620" cmpd="sng">
                      <a:solidFill>
                        <a:srgbClr val="FFFFFF"/>
                      </a:solidFill>
                    </a:lnL>
                    <a:lnR w="7620" cmpd="sng">
                      <a:solidFill>
                        <a:srgbClr val="FFFFFF"/>
                      </a:solidFill>
                    </a:lnR>
                    <a:lnT w="7620" cmpd="sng">
                      <a:solidFill>
                        <a:srgbClr val="FFFFFF"/>
                      </a:solidFill>
                    </a:lnT>
                    <a:lnB w="7620" cmpd="sng">
                      <a:solidFill>
                        <a:srgbClr val="FFFFFF"/>
                      </a:solidFill>
                    </a:lnB>
                    <a:solidFill>
                      <a:srgbClr val="EB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950" b="0" i="0">
                          <a:solidFill>
                            <a:srgbClr val="252525"/>
                          </a:solidFill>
                          <a:latin typeface="Times New Roman" panose="02020603050405020304" pitchFamily="18" charset="0"/>
                        </a:rPr>
                        <a:t>Ask a document-based question</a:t>
                      </a:r>
                    </a:p>
                  </a:txBody>
                  <a:tcPr>
                    <a:lnL w="7620" cmpd="sng">
                      <a:solidFill>
                        <a:srgbClr val="FFFFFF"/>
                      </a:solidFill>
                    </a:lnL>
                    <a:lnR w="7620" cmpd="sng">
                      <a:solidFill>
                        <a:srgbClr val="FFFFFF"/>
                      </a:solidFill>
                    </a:lnR>
                    <a:lnT w="7620" cmpd="sng">
                      <a:solidFill>
                        <a:srgbClr val="FFFFFF"/>
                      </a:solidFill>
                    </a:lnT>
                    <a:lnB w="7620" cmpd="sng">
                      <a:solidFill>
                        <a:srgbClr val="FFFFFF"/>
                      </a:solidFill>
                    </a:lnB>
                    <a:solidFill>
                      <a:srgbClr val="EB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950" b="0" i="0">
                          <a:solidFill>
                            <a:srgbClr val="252525"/>
                          </a:solidFill>
                          <a:latin typeface="Times New Roman" panose="02020603050405020304" pitchFamily="18" charset="0"/>
                        </a:rPr>
                        <a:t>Relevant passages</a:t>
                      </a:r>
                    </a:p>
                  </a:txBody>
                  <a:tcPr>
                    <a:lnL w="7620" cmpd="sng">
                      <a:solidFill>
                        <a:srgbClr val="FFFFFF"/>
                      </a:solidFill>
                    </a:lnL>
                    <a:lnR w="7620" cmpd="sng">
                      <a:solidFill>
                        <a:srgbClr val="FFFFFF"/>
                      </a:solidFill>
                    </a:lnR>
                    <a:lnT w="7620" cmpd="sng">
                      <a:solidFill>
                        <a:srgbClr val="FFFFFF"/>
                      </a:solidFill>
                    </a:lnT>
                    <a:lnB w="7620" cmpd="sng">
                      <a:solidFill>
                        <a:srgbClr val="FFFFFF"/>
                      </a:solidFill>
                    </a:lnB>
                    <a:solidFill>
                      <a:srgbClr val="EB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789527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950" b="0" i="0">
                          <a:solidFill>
                            <a:srgbClr val="252525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>
                    <a:lnL w="7620" cmpd="sng">
                      <a:solidFill>
                        <a:srgbClr val="FFFFFF"/>
                      </a:solidFill>
                    </a:lnL>
                    <a:lnR w="7620" cmpd="sng">
                      <a:solidFill>
                        <a:srgbClr val="FFFFFF"/>
                      </a:solidFill>
                    </a:lnR>
                    <a:lnT w="7620" cmpd="sng">
                      <a:solidFill>
                        <a:srgbClr val="FFFFFF"/>
                      </a:solidFill>
                    </a:lnT>
                    <a:lnB w="7620" cmpd="sng">
                      <a:solidFill>
                        <a:srgbClr val="FFFFFF"/>
                      </a:solidFill>
                    </a:lnB>
                    <a:solidFill>
                      <a:srgbClr val="D8DDC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950" b="0" i="0">
                          <a:solidFill>
                            <a:srgbClr val="252525"/>
                          </a:solidFill>
                          <a:latin typeface="Times New Roman" panose="02020603050405020304" pitchFamily="18" charset="0"/>
                        </a:rPr>
                        <a:t>Prepare the answer</a:t>
                      </a:r>
                    </a:p>
                  </a:txBody>
                  <a:tcPr>
                    <a:lnL w="7620" cmpd="sng">
                      <a:solidFill>
                        <a:srgbClr val="FFFFFF"/>
                      </a:solidFill>
                    </a:lnL>
                    <a:lnR w="7620" cmpd="sng">
                      <a:solidFill>
                        <a:srgbClr val="FFFFFF"/>
                      </a:solidFill>
                    </a:lnR>
                    <a:lnT w="7620" cmpd="sng">
                      <a:solidFill>
                        <a:srgbClr val="FFFFFF"/>
                      </a:solidFill>
                    </a:lnT>
                    <a:lnB w="7620" cmpd="sng">
                      <a:solidFill>
                        <a:srgbClr val="FFFFFF"/>
                      </a:solidFill>
                    </a:lnB>
                    <a:solidFill>
                      <a:srgbClr val="D8DDC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950" b="0" i="0">
                          <a:solidFill>
                            <a:srgbClr val="252525"/>
                          </a:solidFill>
                          <a:latin typeface="Times New Roman" panose="02020603050405020304" pitchFamily="18" charset="0"/>
                        </a:rPr>
                        <a:t>Selected source sentences</a:t>
                      </a:r>
                    </a:p>
                  </a:txBody>
                  <a:tcPr>
                    <a:lnL w="7620" cmpd="sng">
                      <a:solidFill>
                        <a:srgbClr val="FFFFFF"/>
                      </a:solidFill>
                    </a:lnL>
                    <a:lnR w="7620" cmpd="sng">
                      <a:solidFill>
                        <a:srgbClr val="FFFFFF"/>
                      </a:solidFill>
                    </a:lnR>
                    <a:lnT w="7620" cmpd="sng">
                      <a:solidFill>
                        <a:srgbClr val="FFFFFF"/>
                      </a:solidFill>
                    </a:lnT>
                    <a:lnB w="7620" cmpd="sng">
                      <a:solidFill>
                        <a:srgbClr val="FFFFFF"/>
                      </a:solidFill>
                    </a:lnB>
                    <a:solidFill>
                      <a:srgbClr val="D8DD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861078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950" b="0" i="0">
                          <a:solidFill>
                            <a:srgbClr val="252525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>
                    <a:lnL w="7620" cmpd="sng">
                      <a:solidFill>
                        <a:srgbClr val="FFFFFF"/>
                      </a:solidFill>
                    </a:lnL>
                    <a:lnR w="7620" cmpd="sng">
                      <a:solidFill>
                        <a:srgbClr val="FFFFFF"/>
                      </a:solidFill>
                    </a:lnR>
                    <a:lnT w="7620" cmpd="sng">
                      <a:solidFill>
                        <a:srgbClr val="FFFFFF"/>
                      </a:solidFill>
                    </a:lnT>
                    <a:lnB w="7620" cmpd="sng">
                      <a:solidFill>
                        <a:srgbClr val="FFFFFF"/>
                      </a:solidFill>
                    </a:lnB>
                    <a:solidFill>
                      <a:srgbClr val="EB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950" b="0" i="0">
                          <a:solidFill>
                            <a:srgbClr val="252525"/>
                          </a:solidFill>
                          <a:latin typeface="Times New Roman" panose="02020603050405020304" pitchFamily="18" charset="0"/>
                        </a:rPr>
                        <a:t>Run Approach A verification</a:t>
                      </a:r>
                    </a:p>
                  </a:txBody>
                  <a:tcPr>
                    <a:lnL w="7620" cmpd="sng">
                      <a:solidFill>
                        <a:srgbClr val="FFFFFF"/>
                      </a:solidFill>
                    </a:lnL>
                    <a:lnR w="7620" cmpd="sng">
                      <a:solidFill>
                        <a:srgbClr val="FFFFFF"/>
                      </a:solidFill>
                    </a:lnR>
                    <a:lnT w="7620" cmpd="sng">
                      <a:solidFill>
                        <a:srgbClr val="FFFFFF"/>
                      </a:solidFill>
                    </a:lnT>
                    <a:lnB w="7620" cmpd="sng">
                      <a:solidFill>
                        <a:srgbClr val="FFFFFF"/>
                      </a:solidFill>
                    </a:lnB>
                    <a:solidFill>
                      <a:srgbClr val="EB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950" b="0" i="0">
                          <a:solidFill>
                            <a:srgbClr val="252525"/>
                          </a:solidFill>
                          <a:latin typeface="Times New Roman" panose="02020603050405020304" pitchFamily="18" charset="0"/>
                        </a:rPr>
                        <a:t>Similarity scores and labels</a:t>
                      </a:r>
                    </a:p>
                  </a:txBody>
                  <a:tcPr>
                    <a:lnL w="7620" cmpd="sng">
                      <a:solidFill>
                        <a:srgbClr val="FFFFFF"/>
                      </a:solidFill>
                    </a:lnL>
                    <a:lnR w="7620" cmpd="sng">
                      <a:solidFill>
                        <a:srgbClr val="FFFFFF"/>
                      </a:solidFill>
                    </a:lnR>
                    <a:lnT w="7620" cmpd="sng">
                      <a:solidFill>
                        <a:srgbClr val="FFFFFF"/>
                      </a:solidFill>
                    </a:lnT>
                    <a:lnB w="7620" cmpd="sng">
                      <a:solidFill>
                        <a:srgbClr val="FFFFFF"/>
                      </a:solidFill>
                    </a:lnB>
                    <a:solidFill>
                      <a:srgbClr val="EB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310188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950" b="0" i="0">
                          <a:solidFill>
                            <a:srgbClr val="252525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7620" cmpd="sng">
                      <a:solidFill>
                        <a:srgbClr val="FFFFFF"/>
                      </a:solidFill>
                    </a:lnL>
                    <a:lnR w="7620" cmpd="sng">
                      <a:solidFill>
                        <a:srgbClr val="FFFFFF"/>
                      </a:solidFill>
                    </a:lnR>
                    <a:lnT w="7620" cmpd="sng">
                      <a:solidFill>
                        <a:srgbClr val="FFFFFF"/>
                      </a:solidFill>
                    </a:lnT>
                    <a:lnB w="7620" cmpd="sng">
                      <a:solidFill>
                        <a:srgbClr val="FFFFFF"/>
                      </a:solidFill>
                    </a:lnB>
                    <a:solidFill>
                      <a:srgbClr val="D8DDC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950" b="0" i="0">
                          <a:solidFill>
                            <a:srgbClr val="252525"/>
                          </a:solidFill>
                          <a:latin typeface="Times New Roman" panose="02020603050405020304" pitchFamily="18" charset="0"/>
                        </a:rPr>
                        <a:t>Inspect the evidence</a:t>
                      </a:r>
                    </a:p>
                  </a:txBody>
                  <a:tcPr>
                    <a:lnL w="7620" cmpd="sng">
                      <a:solidFill>
                        <a:srgbClr val="FFFFFF"/>
                      </a:solidFill>
                    </a:lnL>
                    <a:lnR w="7620" cmpd="sng">
                      <a:solidFill>
                        <a:srgbClr val="FFFFFF"/>
                      </a:solidFill>
                    </a:lnR>
                    <a:lnT w="7620" cmpd="sng">
                      <a:solidFill>
                        <a:srgbClr val="FFFFFF"/>
                      </a:solidFill>
                    </a:lnT>
                    <a:lnB w="7620" cmpd="sng">
                      <a:solidFill>
                        <a:srgbClr val="FFFFFF"/>
                      </a:solidFill>
                    </a:lnB>
                    <a:solidFill>
                      <a:srgbClr val="D8DDC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950" b="0" i="0">
                          <a:solidFill>
                            <a:srgbClr val="252525"/>
                          </a:solidFill>
                          <a:latin typeface="Times New Roman" panose="02020603050405020304" pitchFamily="18" charset="0"/>
                        </a:rPr>
                        <a:t>Matching evidence excerpt</a:t>
                      </a:r>
                    </a:p>
                  </a:txBody>
                  <a:tcPr>
                    <a:lnL w="7620" cmpd="sng">
                      <a:solidFill>
                        <a:srgbClr val="FFFFFF"/>
                      </a:solidFill>
                    </a:lnL>
                    <a:lnR w="7620" cmpd="sng">
                      <a:solidFill>
                        <a:srgbClr val="FFFFFF"/>
                      </a:solidFill>
                    </a:lnR>
                    <a:lnT w="7620" cmpd="sng">
                      <a:solidFill>
                        <a:srgbClr val="FFFFFF"/>
                      </a:solidFill>
                    </a:lnT>
                    <a:lnB w="7620" cmpd="sng">
                      <a:solidFill>
                        <a:srgbClr val="FFFFFF"/>
                      </a:solidFill>
                    </a:lnB>
                    <a:solidFill>
                      <a:srgbClr val="D8DD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444345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D750C84-4577-53F4-822A-8C97BDBA8F41}"/>
              </a:ext>
            </a:extLst>
          </p:cNvPr>
          <p:cNvSpPr txBox="1"/>
          <p:nvPr/>
        </p:nvSpPr>
        <p:spPr>
          <a:xfrm>
            <a:off x="1333500" y="5581650"/>
            <a:ext cx="9525000" cy="6858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r>
              <a:rPr lang="en-US" sz="2100">
                <a:solidFill>
                  <a:srgbClr val="252525"/>
                </a:solidFill>
                <a:latin typeface="Times New Roman" panose="02020603050405020304" pitchFamily="18" charset="0"/>
              </a:rPr>
              <a:t>Ask a question covered by the document and inspect the evidence behind each label.</a:t>
            </a:r>
            <a:endParaRPr lang="en-IN" sz="2100">
              <a:solidFill>
                <a:srgbClr val="252525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5662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249</TotalTime>
  <Words>996</Words>
  <Application>Microsoft Office PowerPoint</Application>
  <PresentationFormat>Widescreen</PresentationFormat>
  <Paragraphs>176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Courier New</vt:lpstr>
      <vt:lpstr>Garamond</vt:lpstr>
      <vt:lpstr>Georgia</vt:lpstr>
      <vt:lpstr>Times New Roman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Dhanvin kadiir</cp:lastModifiedBy>
  <cp:revision>18</cp:revision>
  <dcterms:created xsi:type="dcterms:W3CDTF">2026-08-12T14:40:00Z</dcterms:created>
  <dcterms:modified xsi:type="dcterms:W3CDTF">2026-10-01T05:38:50Z</dcterms:modified>
</cp:coreProperties>
</file>