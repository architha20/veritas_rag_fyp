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73" r:id="rId2"/>
    <p:sldId id="272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70" r:id="rId23"/>
    <p:sldId id="27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708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141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36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84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75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095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782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3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09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062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083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526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02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389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127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673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20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571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ajalakshmi Engineering College (REC ..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540" y="1123784"/>
            <a:ext cx="5312300" cy="114976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3047999" y="2828836"/>
            <a:ext cx="63583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&amp; Business Systems</a:t>
            </a:r>
          </a:p>
          <a:p>
            <a:pPr algn="ctr"/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CB23721 – Project Evaluation I </a:t>
            </a:r>
          </a:p>
          <a:p>
            <a:pPr algn="ctr"/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2  – 0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/09/2026 </a:t>
            </a:r>
          </a:p>
        </p:txBody>
      </p:sp>
    </p:spTree>
    <p:extLst>
      <p:ext uri="{BB962C8B-B14F-4D97-AF65-F5344CB8AC3E}">
        <p14:creationId xmlns:p14="http://schemas.microsoft.com/office/powerpoint/2010/main" val="258932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466960"/>
              </p:ext>
            </p:extLst>
          </p:nvPr>
        </p:nvGraphicFramePr>
        <p:xfrm>
          <a:off x="1425271" y="1081377"/>
          <a:ext cx="9601200" cy="1300038"/>
        </p:xfrm>
        <a:graphic>
          <a:graphicData uri="http://schemas.openxmlformats.org/drawingml/2006/table">
            <a:tbl>
              <a:tblPr/>
              <a:tblGrid>
                <a:gridCol w="960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0038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VeritasRAG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Hallucination-Flagging Layer for 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26650" y="2568273"/>
            <a:ext cx="939844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/>
            </a:pPr>
            <a:r>
              <a:rPr lang="en-IN" b="1" dirty="0"/>
              <a:t>Team Members : </a:t>
            </a:r>
          </a:p>
          <a:p>
            <a:pPr marL="457200" indent="-457200">
              <a:buFont typeface="+mj-lt"/>
              <a:buAutoNum type="arabicPeriod"/>
              <a:defRPr sz="2200"/>
            </a:pPr>
            <a:r>
              <a:rPr lang="en-US" dirty="0" err="1"/>
              <a:t>Architha</a:t>
            </a:r>
            <a:r>
              <a:rPr lang="en-US" dirty="0"/>
              <a:t> M - 231401013</a:t>
            </a:r>
          </a:p>
          <a:p>
            <a:pPr marL="457200" indent="-457200">
              <a:buFont typeface="+mj-lt"/>
              <a:buAutoNum type="arabicPeriod"/>
              <a:defRPr sz="2200"/>
            </a:pPr>
            <a:r>
              <a:rPr lang="en-US" dirty="0" err="1"/>
              <a:t>Dhanvin</a:t>
            </a:r>
            <a:r>
              <a:rPr lang="en-US" dirty="0"/>
              <a:t> </a:t>
            </a:r>
            <a:r>
              <a:rPr lang="en-US" dirty="0" err="1"/>
              <a:t>Kadiir</a:t>
            </a:r>
            <a:r>
              <a:rPr lang="en-US" dirty="0"/>
              <a:t> – 231401022</a:t>
            </a:r>
          </a:p>
          <a:p>
            <a:pPr>
              <a:defRPr sz="2200"/>
            </a:pPr>
            <a:r>
              <a:rPr lang="en-US" b="1" dirty="0"/>
              <a:t>Guide : </a:t>
            </a:r>
          </a:p>
          <a:p>
            <a:pPr>
              <a:defRPr sz="2200"/>
            </a:pPr>
            <a:r>
              <a:rPr lang="en-US" dirty="0"/>
              <a:t>	Mrs. </a:t>
            </a:r>
            <a:r>
              <a:rPr lang="en-US" dirty="0" err="1"/>
              <a:t>Poornimathi</a:t>
            </a:r>
            <a:r>
              <a:rPr lang="en-US" dirty="0"/>
              <a:t> K</a:t>
            </a:r>
          </a:p>
          <a:p>
            <a:pPr>
              <a:defRPr sz="2200"/>
            </a:pPr>
            <a:r>
              <a:rPr lang="en-US" dirty="0"/>
              <a:t>	Assistant Professor(SG)</a:t>
            </a:r>
          </a:p>
          <a:p>
            <a:pPr>
              <a:defRPr sz="2200"/>
            </a:pPr>
            <a:r>
              <a:rPr lang="en-IN" dirty="0"/>
              <a:t>	</a:t>
            </a:r>
            <a:r>
              <a:rPr lang="en-IN" dirty="0" err="1"/>
              <a:t>B.Tech</a:t>
            </a:r>
            <a:r>
              <a:rPr lang="en-IN" dirty="0"/>
              <a:t> Computer Science and Business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6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64429" y="763526"/>
            <a:ext cx="37655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62322" y="1622831"/>
            <a:ext cx="992852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can generate fluent but incorrect or unsupported information.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improves factuality by retrieving relevant external documents.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RAG does not completely eliminate hallucinations.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VeritasRAG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real-time verification of generated responses.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1835" y="4034106"/>
            <a:ext cx="711376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RAG systems do not clearly identify grounded, inferred, and hallucinated content.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easily see which claims are supported by retrieved evidence.</a:t>
            </a:r>
          </a:p>
        </p:txBody>
      </p:sp>
    </p:spTree>
    <p:extLst>
      <p:ext uri="{BB962C8B-B14F-4D97-AF65-F5344CB8AC3E}">
        <p14:creationId xmlns:p14="http://schemas.microsoft.com/office/powerpoint/2010/main" val="2343766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1247" y="1101373"/>
            <a:ext cx="8560905" cy="3043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non-invasive, model-agnostic middleware for real-time verification of RAG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ensemble engine utilizing Embedding Similarity, NLI, and Atomic Fact Entailment.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sentence-level and claim-level grounding scores with linked evidence overlays.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a P95 latency of under 2 seconds through parallel execution and Redis caching.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system performance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RAGTruth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HaluEval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benchmarks targeting ≥82% accuracy.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11248" y="3640530"/>
            <a:ext cx="8417782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Work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real-time, model-agnostic middleware that verifies RAG-generated content at sentence/claim level and provides evidence-linked grounding scores with low latency.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910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419502"/>
              </p:ext>
            </p:extLst>
          </p:nvPr>
        </p:nvGraphicFramePr>
        <p:xfrm>
          <a:off x="795132" y="1025718"/>
          <a:ext cx="10455963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842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Author(s) &amp;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 of 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 / Approach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Findings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Limitations / Research Gap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Relevance to Current Project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664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Lewis et al.,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Retrieval-Augmented Generation for Knowledge-Intensive NLP Tasks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DPR + BART with retrieved passages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 improves knowledge-intensive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output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RAG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9512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 et al.,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FActScore</a:t>
                      </a: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Fine-grained Atomic Evaluation of Factual Precision in Long Form Text Generation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Atomic facts + NLI</a:t>
                      </a:r>
                      <a:endParaRPr lang="en-GB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fine-grained factual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Offline; costly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Atomic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9512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Niu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RAGTruth</a:t>
                      </a: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Hallucination Corpus for Developing Trustworthy RAG Language Models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Hallucination annotations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hallucinations in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real-time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benchmark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664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Asai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Self-RAG: Learning to Retrieve, Generate, and Critique through Self-Reflection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 + self-critique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factuality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Model-agnostic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73195" y="723770"/>
            <a:ext cx="1858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Literature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683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228559"/>
              </p:ext>
            </p:extLst>
          </p:nvPr>
        </p:nvGraphicFramePr>
        <p:xfrm>
          <a:off x="922354" y="1180210"/>
          <a:ext cx="2082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842300"/>
              </p:ext>
            </p:extLst>
          </p:nvPr>
        </p:nvGraphicFramePr>
        <p:xfrm>
          <a:off x="834223" y="1173936"/>
          <a:ext cx="10455963" cy="4481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7589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Author(s) &amp;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 of 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 / Approach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Findings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Limitations / Research Gap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Relevance to Current Project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Es</a:t>
                      </a:r>
                      <a:r>
                        <a:rPr lang="en-IN" sz="1200" dirty="0"/>
                        <a:t> et al., 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RAGAs: Automated Evaluation of Retrieval Augmented Generation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LLM-based evaluation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Measures faithfulness/relevance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Expensive; offline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Real-time gap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Manakul</a:t>
                      </a:r>
                      <a:r>
                        <a:rPr lang="en-IN" sz="1200" dirty="0"/>
                        <a:t> et al., 2023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/>
                        <a:t>SelfCheckGPT</a:t>
                      </a:r>
                      <a:r>
                        <a:rPr lang="en-GB" sz="1200" dirty="0"/>
                        <a:t>: Zero-Resource Black-Box Hallucination Detection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Multiple responses + NLI</a:t>
                      </a:r>
                      <a:endParaRPr lang="en-GB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Detects inconsistent hallucinations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High inference cost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Efficient verification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Gao</a:t>
                      </a:r>
                      <a:r>
                        <a:rPr lang="en-IN" sz="1200" dirty="0"/>
                        <a:t> et al., 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Retrieval-Augmented Generation for Large Language Models: A Survey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RAG architecture survey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Identifies RAG challenges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runtime solution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Modular verification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Wei et al., 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SAFE: Search-Augmented Factuality Evaluator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Atomic facts + search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Improves factuality checking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High latency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Evidence verification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788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251728"/>
              </p:ext>
            </p:extLst>
          </p:nvPr>
        </p:nvGraphicFramePr>
        <p:xfrm>
          <a:off x="9199657" y="1778712"/>
          <a:ext cx="31123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873626"/>
              </p:ext>
            </p:extLst>
          </p:nvPr>
        </p:nvGraphicFramePr>
        <p:xfrm>
          <a:off x="834224" y="1332962"/>
          <a:ext cx="10455963" cy="4660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7589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Author(s) &amp;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 of 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 / Approach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Findings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Limitations / Research Gap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Relevance to Current Project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Huang et al., 2023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A Survey on Hallucination in Large Language Models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Hallucination survey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Identifies causes of hallucination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implementation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Theoretical basis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He et al., 2021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/>
                        <a:t>DeBERTa</a:t>
                      </a:r>
                      <a:r>
                        <a:rPr lang="en-GB" sz="1200" dirty="0"/>
                        <a:t>: Decoding-enhanced BERT with Disentangled Attention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DeBERTa</a:t>
                      </a:r>
                      <a:r>
                        <a:rPr lang="en-IN" sz="1200" dirty="0"/>
                        <a:t> + NLI</a:t>
                      </a:r>
                      <a:endParaRPr lang="en-GB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Strong NLI performance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Cross-encoder latency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Approach B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Yan et al., 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Corrective Retrieval Augmented Generation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Retrieval evaluation + correction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Improves retrieval quality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Pre-generation only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Complementary approach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Barnett et al., 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Seven Failure Points When Engineering a Retrieval Augmented Generation System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RAG failure analysis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Identifies practical failures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runtime detection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Failure identification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40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254847"/>
              </p:ext>
            </p:extLst>
          </p:nvPr>
        </p:nvGraphicFramePr>
        <p:xfrm>
          <a:off x="889884" y="1205741"/>
          <a:ext cx="10455963" cy="419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7589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Author(s) &amp;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 of 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 / Approach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Findings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Limitations / Research Gap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Relevance to Current Project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Li et al., 2023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HaluEval</a:t>
                      </a:r>
                      <a:r>
                        <a:rPr lang="en-IN" sz="1200" dirty="0"/>
                        <a:t>: A Large-Scale Hallucination Evaluation Benchmark for Large Language Models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Hallucination benchmark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Evaluates hallucination detection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Not RAG-specific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Secondary benchmark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Laban et al., 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/>
                        <a:t>FaithBench</a:t>
                      </a:r>
                      <a:r>
                        <a:rPr lang="en-GB" sz="1200" dirty="0"/>
                        <a:t>: A Diverse Hallucination Benchmark for Summarization by Modern LLMs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Faithfulness benchmark</a:t>
                      </a:r>
                      <a:endParaRPr lang="en-GB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Tests subtle hallucinations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Single methods may fail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Ensemble approach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Reimers</a:t>
                      </a:r>
                      <a:r>
                        <a:rPr lang="en-IN" sz="1200" dirty="0"/>
                        <a:t> &amp; </a:t>
                      </a:r>
                      <a:r>
                        <a:rPr lang="en-IN" sz="1200" dirty="0" err="1"/>
                        <a:t>Gurevych</a:t>
                      </a:r>
                      <a:r>
                        <a:rPr lang="en-IN" sz="1200" dirty="0"/>
                        <a:t>, 2019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Sentence-BERT: Sentence </a:t>
                      </a:r>
                      <a:r>
                        <a:rPr lang="en-GB" sz="1200" dirty="0" err="1"/>
                        <a:t>Embeddings</a:t>
                      </a:r>
                      <a:r>
                        <a:rPr lang="en-GB" sz="1200" dirty="0"/>
                        <a:t> using Siamese BERT-Networks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Sentence </a:t>
                      </a:r>
                      <a:r>
                        <a:rPr lang="en-IN" sz="1200" dirty="0" err="1"/>
                        <a:t>embeddings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Efficient semantic similarity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Similarity ≠ entailment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Approach A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464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25472" y="731722"/>
            <a:ext cx="44890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40030" algn="ctr">
              <a:spcBef>
                <a:spcPts val="455"/>
              </a:spcBef>
              <a:spcAft>
                <a:spcPts val="0"/>
              </a:spcAft>
            </a:pPr>
            <a:r>
              <a:rPr lang="en-US" sz="3600" kern="0" spc="-1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Comparative</a:t>
            </a:r>
            <a:r>
              <a:rPr lang="en-US" sz="3600" kern="0" spc="-235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kern="0" spc="-1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Analysis</a:t>
            </a:r>
            <a:endParaRPr lang="en-IN" sz="3600" kern="0" dirty="0">
              <a:effectLst/>
              <a:latin typeface="Times New Roman" panose="02020603050405020304" pitchFamily="18" charset="0"/>
              <a:ea typeface="Garamond" panose="02020404030301010803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56273"/>
              </p:ext>
            </p:extLst>
          </p:nvPr>
        </p:nvGraphicFramePr>
        <p:xfrm>
          <a:off x="2248815" y="1298089"/>
          <a:ext cx="7472238" cy="489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0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5860">
                <a:tc>
                  <a:txBody>
                    <a:bodyPr/>
                    <a:lstStyle/>
                    <a:p>
                      <a:r>
                        <a:rPr lang="en-IN" dirty="0"/>
                        <a:t>Existing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VeritasRAG</a:t>
                      </a:r>
                      <a:r>
                        <a:rPr lang="en-IN" dirty="0"/>
                        <a:t> Advantage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/>
                        <a:t>RAG</a:t>
                      </a:r>
                      <a:r>
                        <a:rPr lang="en-IN"/>
                        <a:t> – Lewis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hallucination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Adds post-generation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/>
                        <a:t>FActScore</a:t>
                      </a:r>
                      <a:r>
                        <a:rPr lang="en-IN"/>
                        <a:t> – Min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Offline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 claim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489">
                <a:tc>
                  <a:txBody>
                    <a:bodyPr/>
                    <a:lstStyle/>
                    <a:p>
                      <a:r>
                        <a:rPr lang="en-IN" b="1"/>
                        <a:t>RAGTruth</a:t>
                      </a:r>
                      <a:r>
                        <a:rPr lang="en-IN"/>
                        <a:t> – Niu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Benchmark, not 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Used for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/>
                        <a:t>Self-RAG</a:t>
                      </a:r>
                      <a:r>
                        <a:rPr lang="en-IN"/>
                        <a:t> – Asai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Requires model fine-tuning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Model-agnostic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/>
                        <a:t>RAGAs</a:t>
                      </a:r>
                      <a:r>
                        <a:rPr lang="en-IN"/>
                        <a:t> – Es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cost; offline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Low-latency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 dirty="0" err="1"/>
                        <a:t>SelfCheckGPT</a:t>
                      </a:r>
                      <a:r>
                        <a:rPr lang="en-IN" dirty="0"/>
                        <a:t> – </a:t>
                      </a:r>
                      <a:r>
                        <a:rPr lang="en-IN" dirty="0" err="1"/>
                        <a:t>Manakul</a:t>
                      </a:r>
                      <a:r>
                        <a:rPr lang="en-IN" dirty="0"/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Multiple LLM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Evidence-based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/>
                        <a:t>SAFE</a:t>
                      </a:r>
                      <a:r>
                        <a:rPr lang="en-IN"/>
                        <a:t> – Wei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retrieved RAG evidence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902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871211"/>
              </p:ext>
            </p:extLst>
          </p:nvPr>
        </p:nvGraphicFramePr>
        <p:xfrm>
          <a:off x="2055802" y="1295699"/>
          <a:ext cx="7472238" cy="195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0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5860">
                <a:tc>
                  <a:txBody>
                    <a:bodyPr/>
                    <a:lstStyle/>
                    <a:p>
                      <a:r>
                        <a:rPr lang="en-IN" dirty="0"/>
                        <a:t>Existing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VeritasRAG</a:t>
                      </a:r>
                      <a:r>
                        <a:rPr lang="en-IN" dirty="0"/>
                        <a:t> Advantage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/>
                        <a:t>Sentence-BERT</a:t>
                      </a:r>
                      <a:r>
                        <a:rPr lang="en-IN"/>
                        <a:t> – Reimers &amp; Gurevych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Similarity ≠ factuality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Combined with NLI + fact checking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 dirty="0" err="1"/>
                        <a:t>VeritasRAG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aseline="0" dirty="0"/>
                        <a:t>                -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Real-time, evidence-linked, model-agnostic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738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25550" y="779430"/>
            <a:ext cx="53900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Research</a:t>
            </a:r>
            <a:r>
              <a:rPr lang="en-US" sz="3600" spc="-19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Gap</a:t>
            </a:r>
            <a:r>
              <a:rPr lang="en-US" sz="3600" spc="-18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Identification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46421" y="1425761"/>
            <a:ext cx="92049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Gaps Found in Literature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hallucination verification in RAG pipelines.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sentence-level and claim-level grounding detection.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may have high latency.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methods require LLM fine-tuning or modification.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evidence-linked and user-friendly grounding output.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verification methods have limitations when used alone. </a:t>
            </a:r>
          </a:p>
          <a:p>
            <a:endParaRPr lang="en-GB" dirty="0"/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for Selecting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gaps indicate the need for a non-invasive, model-agnostic verification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VeritasRAG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Embedding Similarity, NLI Cross-Encoder, and Atomic Fact Entailment.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grounding scores, cited evidence, and visual output.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targets real-time verification with P95 latency below 2 seconds.</a:t>
            </a:r>
          </a:p>
        </p:txBody>
      </p:sp>
    </p:spTree>
    <p:extLst>
      <p:ext uri="{BB962C8B-B14F-4D97-AF65-F5344CB8AC3E}">
        <p14:creationId xmlns:p14="http://schemas.microsoft.com/office/powerpoint/2010/main" val="2989180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52109" y="684014"/>
            <a:ext cx="33502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Proposed</a:t>
            </a:r>
            <a:r>
              <a:rPr lang="en-US" sz="3600" spc="-155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System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96063" y="1591589"/>
            <a:ext cx="80467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VeritasRAG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pluggable, non-invasive middleware layer for RAG pipelines.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generated responses at sentence and claim level.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three verification approaches: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Similarity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NLI Cross-Encoder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Fact Entailment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grounding scores and evidence-linked output.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content 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Grounded - Green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Inferred - Yellow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Hallucinated - 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caching and parallel execution to achieve low-latency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083053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469728" y="723771"/>
            <a:ext cx="50186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Work</a:t>
            </a:r>
            <a:r>
              <a:rPr lang="en-US" sz="3600" spc="-215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Completed</a:t>
            </a:r>
            <a:r>
              <a:rPr lang="en-US" sz="3600" spc="-215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Till</a:t>
            </a:r>
            <a:r>
              <a:rPr lang="en-US" sz="3600" spc="-22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5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Now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78943" y="1254686"/>
            <a:ext cx="4487126" cy="447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finalized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of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 papers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completed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completed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identified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Scope finalized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designed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Approaches identified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selected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prepared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SDG Alignment completed </a:t>
            </a:r>
          </a:p>
        </p:txBody>
      </p:sp>
    </p:spTree>
    <p:extLst>
      <p:ext uri="{BB962C8B-B14F-4D97-AF65-F5344CB8AC3E}">
        <p14:creationId xmlns:p14="http://schemas.microsoft.com/office/powerpoint/2010/main" val="3872739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89770" y="699916"/>
            <a:ext cx="21813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Next</a:t>
            </a:r>
            <a:r>
              <a:rPr lang="en-US" sz="3600" spc="-8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Steps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7440" y="1415533"/>
            <a:ext cx="40497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Work for Next Review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302202" y="4242139"/>
            <a:ext cx="496180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up 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repository and CI/CD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sentence splitter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 model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 A – Embedding Similarity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DAC77C-98B2-96E4-50BE-56DA16B910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610" y="2056306"/>
            <a:ext cx="6400800" cy="218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11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9999" y="803438"/>
            <a:ext cx="11192000" cy="70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GB" sz="36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— What They Do, and Where They Fall Short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948312"/>
              </p:ext>
            </p:extLst>
          </p:nvPr>
        </p:nvGraphicFramePr>
        <p:xfrm>
          <a:off x="1112324" y="1610225"/>
          <a:ext cx="9967351" cy="444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9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7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347">
                <a:tc>
                  <a:txBody>
                    <a:bodyPr/>
                    <a:lstStyle/>
                    <a:p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Does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502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Vectara HHEM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faithfulness score per 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Document-level only — no sentence granularity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502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Multi-metric offline evaluation via LLM-as-judge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10–30s latency — cannot run in real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502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TruLens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Developer-facing pipeline monitoring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user-facing output overlay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502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Guardrails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pass/fail blocking of unsafe outputs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graded confidence; blocks, doesn't explain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502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SelfCheckGPT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Samples multiple responses, checks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3–5× LLM inference cost — impractical for production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367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Fine-tunes an LLM to self-generate reflection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fine-tuning — incompatible with GPT-4/Claude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367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Atomic-fact offline precision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 only (5–15s); Wikipedia-based, not RAG-chunk-based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502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Web-search augmented factuality evaluator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live internet; 30–60s per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00" y="700000"/>
            <a:ext cx="11192000" cy="70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GB" sz="36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Consolidated Research Gap</a:t>
            </a:r>
          </a:p>
        </p:txBody>
      </p:sp>
      <p:sp>
        <p:nvSpPr>
          <p:cNvPr id="3" name="Rectangle 3"/>
          <p:cNvSpPr/>
          <p:nvPr/>
        </p:nvSpPr>
        <p:spPr>
          <a:xfrm>
            <a:off x="1000000" y="1650000"/>
            <a:ext cx="10192000" cy="455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System Provides All of the Following Simultaneously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verification — under 2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Sentence-level granularity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chunk citations per sentence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Color-coded visual overlay for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Pipeline-agnostic — no model fine-tuning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grounding detection within a single sentence</a:t>
            </a:r>
          </a:p>
          <a:p>
            <a:endParaRPr lang="en-GB" dirty="0"/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Gap Matters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67% of enterprises cite hallucination as their #1 LLM adoption blocker (Gartner, 2024)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EU AI Act (2024) mandates transparency for high-risk AI systems — grounding verification is a direct compliance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incident: a lawyer was sanctioned for submitting 6 AI-fabricated case citations to a federal court (Mata v. Avianca Airlines, 2023)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00" y="700000"/>
            <a:ext cx="11192000" cy="70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GB" sz="36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- How VeritasRAG Works</a:t>
            </a:r>
          </a:p>
        </p:txBody>
      </p:sp>
      <p:sp>
        <p:nvSpPr>
          <p:cNvPr id="3" name="Rectangle 3"/>
          <p:cNvSpPr/>
          <p:nvPr/>
        </p:nvSpPr>
        <p:spPr>
          <a:xfrm>
            <a:off x="900000" y="1500000"/>
            <a:ext cx="10392000" cy="49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GB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pluggable, post-generation middleware that intercepts any RAG pipeline's output and annotates every sentence with a grounding score, inference type, and cited source evidence — in under 2 seconds.</a:t>
            </a:r>
          </a:p>
          <a:p>
            <a:endParaRPr lang="en-GB" dirty="0"/>
          </a:p>
          <a:p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pipeline generates a response using retrieved chunks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VeritasRAG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intercepts {response + chunks}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is split into individual sentences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sentence is verified against retrieved chunks via Embedding Similarity (A), NLI Cross-Encoder (B), and Atomic t Entailment (C)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are aggregated via a weighted ensemble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is an annotated JSON + color-coded HTML overlay</a:t>
            </a:r>
          </a:p>
          <a:p>
            <a:endParaRPr lang="en-GB" dirty="0"/>
          </a:p>
          <a:p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— 3 Lines of Code</a:t>
            </a:r>
          </a:p>
          <a:p>
            <a:r>
              <a:rPr lang="en-GB" sz="1400" dirty="0">
                <a:latin typeface="Courier New" panose="02020603050405020304" pitchFamily="18" charset="0"/>
                <a:cs typeface="Courier New" panose="02020603050405020304" pitchFamily="18" charset="0"/>
              </a:rPr>
              <a:t>from veritasrag import VeritasMiddleware</a:t>
            </a:r>
          </a:p>
          <a:p>
            <a:r>
              <a:rPr lang="en-GB" sz="1400" dirty="0">
                <a:latin typeface="Courier New" panose="02020603050405020304" pitchFamily="18" charset="0"/>
                <a:cs typeface="Courier New" panose="02020603050405020304" pitchFamily="18" charset="0"/>
              </a:rPr>
              <a:t>overlay = VeritasMiddleware().verify(response=answer, chunks=chunks)</a:t>
            </a:r>
          </a:p>
          <a:p>
            <a:r>
              <a:rPr lang="en-GB" sz="1400" dirty="0">
                <a:latin typeface="Courier New" panose="02020603050405020304" pitchFamily="18" charset="0"/>
                <a:cs typeface="Courier New" panose="02020603050405020304" pitchFamily="18" charset="0"/>
              </a:rPr>
              <a:t>return {"answer": answer, "grounding": overlay}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00" y="700000"/>
            <a:ext cx="11192000" cy="70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GB" sz="36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Verification Approaches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46000" y="1400000"/>
          <a:ext cx="10900000" cy="2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— Embedding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Cosine similarity, sentence vs. chunk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all-MiniLM-L6-v2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~200–400ms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★★☆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— NLI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Entailment / Neutral / Contradiction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DeBERTa-v3-large-MNLI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~500–800ms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★★★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— Atomic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extracts atomic facts, each verified via NLI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Llama 3.1 8B + NLI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~1000–2000ms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★★★★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6"/>
          <p:cNvSpPr/>
          <p:nvPr/>
        </p:nvSpPr>
        <p:spPr>
          <a:xfrm>
            <a:off x="646000" y="3960000"/>
            <a:ext cx="10900000" cy="62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Formula</a:t>
            </a:r>
          </a:p>
          <a:p>
            <a:r>
              <a:rPr lang="en-GB" sz="1400" dirty="0">
                <a:latin typeface="Courier New" panose="02020603050405020304" pitchFamily="18" charset="0"/>
                <a:cs typeface="Courier New" panose="02020603050405020304" pitchFamily="18" charset="0"/>
              </a:rPr>
              <a:t>Final Score  =  0.20 × Score A  +  0.50 × Score B  +  0.30 × Score C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3396000" y="4640000"/>
          <a:ext cx="540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GB" sz="12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 – 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Yellow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Hallucinated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00" y="700000"/>
            <a:ext cx="11192000" cy="70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GB" sz="36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Concept - Approach A Working Demo</a:t>
            </a:r>
          </a:p>
        </p:txBody>
      </p:sp>
      <p:sp>
        <p:nvSpPr>
          <p:cNvPr id="3" name="Rectangle 3"/>
          <p:cNvSpPr/>
          <p:nvPr/>
        </p:nvSpPr>
        <p:spPr>
          <a:xfrm>
            <a:off x="800000" y="1450000"/>
            <a:ext cx="10592000" cy="50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Was Built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Python implementation of Approach A (Embedding Similarity)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splitting from a RAG response, embedding via all-MiniLM-L6-v2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scoring against retrieved chunks with threshold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JSON overlay output</a:t>
            </a:r>
          </a:p>
          <a:p>
            <a:endParaRPr lang="en-GB" dirty="0"/>
          </a:p>
          <a:p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PoC Demo Output</a:t>
            </a:r>
          </a:p>
          <a:p>
            <a:r>
              <a:rPr lang="en-GB" sz="1200" dirty="0">
                <a:latin typeface="Courier New" panose="02020603050405020304" pitchFamily="18" charset="0"/>
                <a:cs typeface="Courier New" panose="02020603050405020304" pitchFamily="18" charset="0"/>
              </a:rPr>
              <a:t>Query: "What is the capital of France and its population?"</a:t>
            </a:r>
          </a:p>
          <a:p>
            <a:endParaRPr lang="en-GB" dirty="0"/>
          </a:p>
          <a:p>
            <a:r>
              <a:rPr lang="en-GB" sz="1200" dirty="0">
                <a:latin typeface="Courier New" panose="02020603050405020304" pitchFamily="18" charset="0"/>
                <a:cs typeface="Courier New" panose="02020603050405020304" pitchFamily="18" charset="0"/>
              </a:rPr>
              <a:t>Sentence 1: "Paris is the capital of France."</a:t>
            </a:r>
          </a:p>
          <a:p>
            <a:r>
              <a:rPr lang="en-GB" sz="1200" dirty="0">
                <a:latin typeface="Courier New" panose="02020603050405020304" pitchFamily="18" charset="0"/>
                <a:cs typeface="Courier New" panose="02020603050405020304" pitchFamily="18" charset="0"/>
              </a:rPr>
              <a:t>    Score 0.94  →  GROUNDED   (chunk_001, similarity 0.94)</a:t>
            </a:r>
          </a:p>
          <a:p>
            <a:r>
              <a:rPr lang="en-GB" sz="1200" dirty="0">
                <a:latin typeface="Courier New" panose="02020603050405020304" pitchFamily="18" charset="0"/>
                <a:cs typeface="Courier New" panose="02020603050405020304" pitchFamily="18" charset="0"/>
              </a:rPr>
              <a:t>Sentence 2: "...population of approximately 2.1 million."</a:t>
            </a:r>
          </a:p>
          <a:p>
            <a:r>
              <a:rPr lang="en-GB" sz="1200" dirty="0">
                <a:latin typeface="Courier New" panose="02020603050405020304" pitchFamily="18" charset="0"/>
                <a:cs typeface="Courier New" panose="02020603050405020304" pitchFamily="18" charset="0"/>
              </a:rPr>
              <a:t>    Score 0.87  →  GROUNDED   (chunk_001, similarity 0.87)</a:t>
            </a:r>
          </a:p>
          <a:p>
            <a:r>
              <a:rPr lang="en-GB" sz="1200" dirty="0">
                <a:latin typeface="Courier New" panose="02020603050405020304" pitchFamily="18" charset="0"/>
                <a:cs typeface="Courier New" panose="02020603050405020304" pitchFamily="18" charset="0"/>
              </a:rPr>
              <a:t>Sentence 3: "The city was founded by the Romans in 3rd century BC."</a:t>
            </a:r>
          </a:p>
          <a:p>
            <a:r>
              <a:rPr lang="en-GB" sz="1200" dirty="0">
                <a:latin typeface="Courier New" panose="02020603050405020304" pitchFamily="18" charset="0"/>
                <a:cs typeface="Courier New" panose="02020603050405020304" pitchFamily="18" charset="0"/>
              </a:rPr>
              <a:t>    Score 0.21  →  HALLUCINATED  (no supporting evidence found)</a:t>
            </a:r>
          </a:p>
          <a:p>
            <a:endParaRPr lang="en-GB" dirty="0"/>
          </a:p>
          <a:p>
            <a:r>
              <a:rPr lang="en-GB" sz="1200" dirty="0">
                <a:latin typeface="Courier New" panose="02020603050405020304" pitchFamily="18" charset="0"/>
                <a:cs typeface="Courier New" panose="02020603050405020304" pitchFamily="18" charset="0"/>
              </a:rPr>
              <a:t>Overall Grounding Score: 0.67  |  Processing Time: 387ms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00" y="700000"/>
            <a:ext cx="11192000" cy="70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GB" sz="36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- VeritasRAG Middleware</a:t>
            </a:r>
          </a:p>
        </p:txBody>
      </p:sp>
      <p:pic>
        <p:nvPicPr>
          <p:cNvPr id="10" name="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890" y="1550000"/>
            <a:ext cx="9386220" cy="495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00" y="700000"/>
            <a:ext cx="11192000" cy="70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GB" sz="36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- VeritasRAG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296000" y="1300000"/>
          <a:ext cx="9600000" cy="3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en-GB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 (Python 3.11+)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 endpoint /api/v1/verify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spaCy en_core_web_sm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sentence boundary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Embedding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all-MiniLM-L6-v2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384-dim sentence embeddings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NLI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DeBERTa-v3-large-MNLI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Entailment / Neutral / Contradiction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(Approach 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Llama 3.1 8B via vLLM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Atomic fact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 7.x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Embedding cache (LRU, 24h TTL)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 + Compose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One-command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Prometheus + Grafana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Latency, throughput 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6"/>
          <p:cNvSpPr/>
          <p:nvPr/>
        </p:nvSpPr>
        <p:spPr>
          <a:xfrm>
            <a:off x="1296000" y="5080000"/>
            <a:ext cx="9600000" cy="147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Implementation Status (MVP)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Splitter, Embedding Model (Approach A), JSON Overlay, FastAPI Endpoint —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 Cache, Docker Setup, Unit Tests — In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NLI Cross-Encoder (Approach B) — Planned Week 5  |  Atomic Fact Entailment (Approach C) — Planned Week 11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61940" y="715819"/>
            <a:ext cx="22236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spc="-1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References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22351" y="1443108"/>
            <a:ext cx="10400305" cy="4480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P. Lewis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“Retrieval-Augmented Generation for Knowledge-Intensive NLP Tasks,”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Neural Information Processing Systems (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S. Min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FActScore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Fine-grained Atomic Evaluation of Factual Precision in Long Form Text Generation,”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EMNLP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C.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RAGTruth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Hallucination Corpus for Developing Trustworthy RAG Language Models,”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ACL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“Self-RAG: Learning to Retrieve, Generate, and Critique through Self-Reflection,”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Learning Representations (ICLR)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“RAGAs: Automated Evaluation of Retrieval Augmented Generation,”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EACL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P.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Manakul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Liusie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J. F. Gales,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SelfCheckGPT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Zero-Resource Black-Box Hallucination Detection for Generative Large Language Models,”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EMNLP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Y.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“Retrieval-Augmented Generation for Large Language Models: A Survey,” 2024.</a:t>
            </a:r>
          </a:p>
        </p:txBody>
      </p:sp>
    </p:spTree>
    <p:extLst>
      <p:ext uri="{BB962C8B-B14F-4D97-AF65-F5344CB8AC3E}">
        <p14:creationId xmlns:p14="http://schemas.microsoft.com/office/powerpoint/2010/main" val="3801813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0" y="1503391"/>
            <a:ext cx="10273085" cy="4480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J. Wei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“SAFE: Search-Augmented Factuality Evaluator,”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L. Huang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Survey on Hallucination in Large Language Models: Principles, Taxonomy, Challenges, and Open Questions,” 2023.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P. He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DeBERTa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Decoding-enhanced BERT with Disentangled Attention,”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Learning Representations (ICLR)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S. Q. Yan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“Corrective Retrieval Augmented Generation,”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S. Barnett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“Seven Failure Points When Engineering a Retrieval Augmented Generation System,”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J. Li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HaluEval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Large-Scale Hallucination Evaluation Benchmark for Large Language Models,”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EMNLP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P. Laban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FaithBench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Diverse Hallucination Benchmark for Summarization by Modern LLMs,”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N.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Reimers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Gurevych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“Sentence-BERT: Sentence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Siamese BERT-Networks,”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EMNLP-IJCNLP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2019.</a:t>
            </a:r>
          </a:p>
        </p:txBody>
      </p:sp>
    </p:spTree>
    <p:extLst>
      <p:ext uri="{BB962C8B-B14F-4D97-AF65-F5344CB8AC3E}">
        <p14:creationId xmlns:p14="http://schemas.microsoft.com/office/powerpoint/2010/main" val="9957109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229</TotalTime>
  <Words>2249</Words>
  <Application>Microsoft Office PowerPoint</Application>
  <PresentationFormat>Widescreen</PresentationFormat>
  <Paragraphs>402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Courier New</vt:lpstr>
      <vt:lpstr>Garamond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Dhanvin kadiir</cp:lastModifiedBy>
  <cp:revision>17</cp:revision>
  <dcterms:created xsi:type="dcterms:W3CDTF">2026-08-12T14:40:00Z</dcterms:created>
  <dcterms:modified xsi:type="dcterms:W3CDTF">2026-08-30T14:58:40Z</dcterms:modified>
</cp:coreProperties>
</file>